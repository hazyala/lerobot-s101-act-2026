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9"/>
    <p:restoredTop sz="94610"/>
  </p:normalViewPr>
  <p:slideViewPr>
    <p:cSldViewPr snapToGrid="0" snapToObjects="1">
      <p:cViewPr>
        <p:scale>
          <a:sx n="100" d="100"/>
          <a:sy n="100" d="100"/>
        </p:scale>
        <p:origin x="138" y="-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96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기반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 데이터셋 수집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조작을 기록해, 로봇이 학습할 수 있는 데이터로 저장합니다.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&amp; Place · Sorting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Stacking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21408" y="2999232"/>
            <a:ext cx="0" cy="9601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9424" y="2926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Episodes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판정으로 저장된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episode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22192" y="2999232"/>
            <a:ext cx="0" cy="9601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950208" y="2926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episode당 평균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564 frames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2999232"/>
            <a:ext cx="0" cy="96012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650992" y="2926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650992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state·action·영상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기록</a:t>
            </a:r>
            <a:endParaRPr lang="en-US" sz="900" dirty="0"/>
          </a:p>
        </p:txBody>
      </p:sp>
      <p:pic>
        <p:nvPicPr>
          <p:cNvPr id="22" name="Image 0" descr="asset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548640"/>
            <a:ext cx="4206240" cy="36118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616952" y="3776472"/>
            <a:ext cx="3429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616952" y="37764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장비 · Follower(앞) + Leader(뒤) · HOME 자세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" y="4389120"/>
            <a:ext cx="11091672" cy="1901952"/>
          </a:xfrm>
          <a:prstGeom prst="roundRect">
            <a:avLst>
              <a:gd name="adj" fmla="val 673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296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931566" y="4562856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2931566" y="4562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1–3  Pilot 완료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148779" y="4562856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7148779" y="4562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4–5  다음 단계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225296" y="5193792"/>
            <a:ext cx="1633118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822960" y="5029200"/>
            <a:ext cx="329184" cy="329184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2296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513832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Teleoperation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797296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Leader로 로봇을 직접 조작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33902" y="5193792"/>
            <a:ext cx="1633118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2931566" y="5029200"/>
            <a:ext cx="329184" cy="329184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2931566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2931566" y="5513832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Collection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2931566" y="5797296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상태·동작·영상을 동시 기록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442509" y="5193792"/>
            <a:ext cx="1633118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5040173" y="5029200"/>
            <a:ext cx="329184" cy="329184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5040173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040173" y="5513832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LeRobotDataset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040173" y="5797296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구조로 데이터 저장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551115" y="5193792"/>
            <a:ext cx="1633118" cy="0"/>
          </a:xfrm>
          <a:prstGeom prst="line">
            <a:avLst/>
          </a:prstGeom>
          <a:noFill/>
          <a:ln w="190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7148779" y="502920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7148779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7148779" y="5513832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Large-scale Dataset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7148779" y="5797296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조건으로 반복 수집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257386" y="502920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9257386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257386" y="5513832"/>
            <a:ext cx="1925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Training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9257386" y="5797296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baseline · SmolVLA 학습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COLLECTION SETUP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환경과 자동 Episode 수집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Leader로 조작하고, Follower의 관절 상태와 두 카메라 영상을 30 FPS로 함께 기록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06</a:t>
            </a:r>
            <a:endParaRPr lang="en-US" sz="850" dirty="0"/>
          </a:p>
        </p:txBody>
      </p:sp>
      <p:pic>
        <p:nvPicPr>
          <p:cNvPr id="7" name="Image 0" descr="assets/rec_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6172200" cy="3631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682496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Auto Home Recording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85800" y="1956816"/>
            <a:ext cx="20116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85800" y="19568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VIEW · RealSense D405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71900" y="1956816"/>
            <a:ext cx="16002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771900" y="19568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 VIEW · Webcam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97680" y="4930040"/>
            <a:ext cx="2240280" cy="24688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297680" y="49300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오차 · 안정 시간 → 자동 판정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468112"/>
            <a:ext cx="2903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· 작업 공간 전체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24144"/>
            <a:ext cx="2903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시작 위치 · 로봇 이동 경로 · 전체 흐름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34740" y="5468112"/>
            <a:ext cx="2903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 · 그리퍼와 물체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634740" y="5724144"/>
            <a:ext cx="2903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상태 · 목표 </a:t>
            </a:r>
            <a:r>
              <a:rPr lang="en-US" sz="1000" dirty="0" err="1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안착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640 × 480 RGB · 30 FPS · state / action 각 6 joints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 루프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입력 없이 HOME 조건으로 시작·종료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269480" y="2221992"/>
            <a:ext cx="0" cy="2496312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7132320" y="20848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13232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2258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episode를 같은 자세에서 시작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0" y="250088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132320" y="25008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24734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 START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543800" y="26746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확인 후 상태·영상 기록 시작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132320" y="291693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13232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543800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Teleoperation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543800" y="30906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action · TOP · FRONT 동시 기록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132320" y="333298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132320" y="33329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543800" y="33055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completed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35067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물체가 목표 위치에 놓임 — 아직 저장 X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132320" y="374904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71323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7543800" y="3721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to HOME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543800" y="3922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후 같은 HOME 자세로 복귀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132320" y="41650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132320" y="4165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543800" y="41376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stable 2 s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543800" y="43388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자세가 2초 유지되면 종료 판정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132320" y="4581144"/>
            <a:ext cx="274320" cy="274320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7132320" y="4581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7543800" y="4553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7543800" y="4754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episode 자동 저장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9464040" y="3767328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9464040" y="376732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52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 · 복귀 동작도 함께 학습될 수 있음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0378440" y="2103120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10378440" y="21031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= 종료 자세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132320" y="5074920"/>
            <a:ext cx="2162556" cy="1216152"/>
          </a:xfrm>
          <a:prstGeom prst="roundRect">
            <a:avLst>
              <a:gd name="adj" fmla="val 90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7296912" y="5212080"/>
            <a:ext cx="18882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 5 s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7296912" y="5486400"/>
            <a:ext cx="1888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시작 위치에 물체 배치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시간은 녹화하지 않음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다시 ① HOME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9477756" y="5074920"/>
            <a:ext cx="2162556" cy="1216152"/>
          </a:xfrm>
          <a:prstGeom prst="roundRect">
            <a:avLst>
              <a:gd name="adj" fmla="val 9023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9642348" y="5212080"/>
            <a:ext cx="18882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C452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</a:t>
            </a:r>
            <a:r>
              <a:rPr lang="en-US" sz="1150" b="1" dirty="0">
                <a:solidFill>
                  <a:srgbClr val="C452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· 즉시 폐기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9642348" y="5486400"/>
            <a:ext cx="18608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놓침 · 목표 위치 실패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과정이나</a:t>
            </a: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판정이 잘못된 경우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관찰자 판단으로 </a:t>
            </a:r>
            <a:r>
              <a:rPr lang="en-US" sz="950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같은 episode 재수집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STRUCTURE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시점의 기록이 하나의 데이터셋으로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상태 · 목표 동작 · 두 카메라 영상이 같은 index로 묶여 LeRobotDataset 구조로 저장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57800" cy="4645152"/>
          </a:xfrm>
          <a:prstGeom prst="roundRect">
            <a:avLst>
              <a:gd name="adj" fmla="val 275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TIMESTEP t 에 함께 저장되는 것</a:t>
            </a:r>
            <a:endParaRPr lang="en-US" sz="1100" dirty="0"/>
          </a:p>
        </p:txBody>
      </p:sp>
      <p:pic>
        <p:nvPicPr>
          <p:cNvPr id="9" name="Image 0" descr="assets/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2304288" cy="1723715"/>
          </a:xfrm>
          <a:prstGeom prst="rect">
            <a:avLst/>
          </a:prstGeom>
        </p:spPr>
      </p:pic>
      <p:pic>
        <p:nvPicPr>
          <p:cNvPr id="10" name="Image 1" descr="assets/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103120"/>
            <a:ext cx="2304288" cy="17237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3899987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observation.images.top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092011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RealSense D405 · 640×480 RGB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3273552" y="3899987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observation.images.front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273552" y="4092011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Webcam · 640×480 RGB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929384" y="4329755"/>
            <a:ext cx="0" cy="61686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929384" y="4892040"/>
            <a:ext cx="0" cy="109728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425696" y="4329755"/>
            <a:ext cx="0" cy="61686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25696" y="4892040"/>
            <a:ext cx="0" cy="109728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929384" y="4391442"/>
            <a:ext cx="2496312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1929384" y="4892040"/>
            <a:ext cx="2496312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3177540" y="4391442"/>
            <a:ext cx="0" cy="61686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3177540" y="4782312"/>
            <a:ext cx="0" cy="109728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2400300" y="445312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2400300" y="44531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TIMESTEP  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77240" y="5001768"/>
            <a:ext cx="230428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914400" y="50932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observation.state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" y="53309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관절 상태 6개 · float × 6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273552" y="5001768"/>
            <a:ext cx="230428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3410712" y="509320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3410712" y="53309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Leader 목표 관절 값 6개 · float × 6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7724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77724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shoulder_pan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158496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158496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shoulder_lift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239268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239268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elbow_flex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320040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320040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wrist_flex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400812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400812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wrist_roll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4815840" y="5715000"/>
            <a:ext cx="762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4815840" y="5715000"/>
            <a:ext cx="76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gripper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777240" y="599846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en-US" sz="85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· frame_index · episode_index · task_index</a:t>
            </a: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함께 저장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6080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LeRobotDataset 저장 구조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841248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auto_home_dataset/</a:t>
            </a:r>
            <a:endParaRPr lang="en-US" sz="950" dirty="0"/>
          </a:p>
        </p:txBody>
      </p:sp>
      <p:pic>
        <p:nvPicPr>
          <p:cNvPr id="46" name="Image 2" descr="assets/folder_m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057400"/>
            <a:ext cx="1828800" cy="2517820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7543800" y="2549244"/>
            <a:ext cx="201168" cy="201168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7543800" y="2549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7543800" y="3260802"/>
            <a:ext cx="201168" cy="201168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 txBox="1"/>
          <p:nvPr/>
        </p:nvSpPr>
        <p:spPr>
          <a:xfrm>
            <a:off x="7543800" y="326080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7543800" y="4107588"/>
            <a:ext cx="201168" cy="201168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7543800" y="41075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7543800" y="2832579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7543800" y="283257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55" name="Shape 50"/>
          <p:cNvSpPr/>
          <p:nvPr/>
        </p:nvSpPr>
        <p:spPr>
          <a:xfrm>
            <a:off x="8183880" y="2057400"/>
            <a:ext cx="219456" cy="219456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8183880" y="2057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8494776" y="20391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— 시점별 수치 데이터</a:t>
            </a:r>
            <a:endParaRPr lang="en-US" sz="1150" dirty="0"/>
          </a:p>
        </p:txBody>
      </p:sp>
      <p:sp>
        <p:nvSpPr>
          <p:cNvPr id="58" name="Text 53"/>
          <p:cNvSpPr txBox="1"/>
          <p:nvPr/>
        </p:nvSpPr>
        <p:spPr>
          <a:xfrm>
            <a:off x="8494776" y="2331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file-000.parquet</a:t>
            </a:r>
            <a:endParaRPr lang="en-US" sz="850" dirty="0"/>
          </a:p>
        </p:txBody>
      </p:sp>
      <p:sp>
        <p:nvSpPr>
          <p:cNvPr id="59" name="Text 54"/>
          <p:cNvSpPr txBox="1"/>
          <p:nvPr/>
        </p:nvSpPr>
        <p:spPr>
          <a:xfrm>
            <a:off x="9811512" y="2331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action · index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8183880" y="2743200"/>
            <a:ext cx="219456" cy="219456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6"/>
          <p:cNvSpPr txBox="1"/>
          <p:nvPr/>
        </p:nvSpPr>
        <p:spPr>
          <a:xfrm>
            <a:off x="8183880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8494776" y="27249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— 데이터셋을 해석하는 정보</a:t>
            </a:r>
            <a:endParaRPr lang="en-US" sz="1150" dirty="0"/>
          </a:p>
        </p:txBody>
      </p:sp>
      <p:sp>
        <p:nvSpPr>
          <p:cNvPr id="63" name="Text 58"/>
          <p:cNvSpPr txBox="1"/>
          <p:nvPr/>
        </p:nvSpPr>
        <p:spPr>
          <a:xfrm>
            <a:off x="8494776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info.json</a:t>
            </a:r>
            <a:endParaRPr lang="en-US" sz="850" dirty="0"/>
          </a:p>
        </p:txBody>
      </p:sp>
      <p:sp>
        <p:nvSpPr>
          <p:cNvPr id="64" name="Text 59"/>
          <p:cNvSpPr txBox="1"/>
          <p:nvPr/>
        </p:nvSpPr>
        <p:spPr>
          <a:xfrm>
            <a:off x="9811512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FPS · feature · 경로</a:t>
            </a:r>
            <a:endParaRPr lang="en-US" sz="900" dirty="0"/>
          </a:p>
        </p:txBody>
      </p:sp>
      <p:sp>
        <p:nvSpPr>
          <p:cNvPr id="65" name="Text 60"/>
          <p:cNvSpPr txBox="1"/>
          <p:nvPr/>
        </p:nvSpPr>
        <p:spPr>
          <a:xfrm>
            <a:off x="8494776" y="32552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stats.json</a:t>
            </a:r>
            <a:endParaRPr lang="en-US" sz="850" dirty="0"/>
          </a:p>
        </p:txBody>
      </p:sp>
      <p:sp>
        <p:nvSpPr>
          <p:cNvPr id="66" name="Text 61"/>
          <p:cNvSpPr txBox="1"/>
          <p:nvPr/>
        </p:nvSpPr>
        <p:spPr>
          <a:xfrm>
            <a:off x="9811512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평균·표준편차·min·max</a:t>
            </a:r>
            <a:endParaRPr lang="en-US" sz="900" dirty="0"/>
          </a:p>
        </p:txBody>
      </p:sp>
      <p:sp>
        <p:nvSpPr>
          <p:cNvPr id="67" name="Text 62"/>
          <p:cNvSpPr txBox="1"/>
          <p:nvPr/>
        </p:nvSpPr>
        <p:spPr>
          <a:xfrm>
            <a:off x="8494776" y="3493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tasks.parquet</a:t>
            </a:r>
            <a:endParaRPr lang="en-US" sz="850" dirty="0"/>
          </a:p>
        </p:txBody>
      </p:sp>
      <p:sp>
        <p:nvSpPr>
          <p:cNvPr id="68" name="Text 63"/>
          <p:cNvSpPr txBox="1"/>
          <p:nvPr/>
        </p:nvSpPr>
        <p:spPr>
          <a:xfrm>
            <a:off x="9811512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문장 ↔ index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8494776" y="3730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episodes/*.parquet</a:t>
            </a:r>
            <a:endParaRPr lang="en-US" sz="850" dirty="0"/>
          </a:p>
        </p:txBody>
      </p:sp>
      <p:sp>
        <p:nvSpPr>
          <p:cNvPr id="70" name="Text 65"/>
          <p:cNvSpPr txBox="1"/>
          <p:nvPr/>
        </p:nvSpPr>
        <p:spPr>
          <a:xfrm>
            <a:off x="9811512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· 구간 · 영상 위치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8183880" y="4160520"/>
            <a:ext cx="219456" cy="219456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7"/>
          <p:cNvSpPr txBox="1"/>
          <p:nvPr/>
        </p:nvSpPr>
        <p:spPr>
          <a:xfrm>
            <a:off x="8183880" y="4160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Text 68"/>
          <p:cNvSpPr txBox="1"/>
          <p:nvPr/>
        </p:nvSpPr>
        <p:spPr>
          <a:xfrm>
            <a:off x="8494776" y="41422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videos — 압축된 최종 영상</a:t>
            </a:r>
            <a:endParaRPr lang="en-US" sz="1150" dirty="0"/>
          </a:p>
        </p:txBody>
      </p:sp>
      <p:sp>
        <p:nvSpPr>
          <p:cNvPr id="74" name="Text 69"/>
          <p:cNvSpPr txBox="1"/>
          <p:nvPr/>
        </p:nvSpPr>
        <p:spPr>
          <a:xfrm>
            <a:off x="8494776" y="4434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/ front</a:t>
            </a:r>
            <a:endParaRPr lang="en-US" sz="850" dirty="0"/>
          </a:p>
        </p:txBody>
      </p:sp>
      <p:sp>
        <p:nvSpPr>
          <p:cNvPr id="75" name="Text 70"/>
          <p:cNvSpPr txBox="1"/>
          <p:nvPr/>
        </p:nvSpPr>
        <p:spPr>
          <a:xfrm>
            <a:off x="9811512" y="4434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MP4 · H.264 압축</a:t>
            </a:r>
            <a:endParaRPr lang="en-US" sz="900" dirty="0"/>
          </a:p>
        </p:txBody>
      </p:sp>
      <p:sp>
        <p:nvSpPr>
          <p:cNvPr id="76" name="Shape 71"/>
          <p:cNvSpPr/>
          <p:nvPr/>
        </p:nvSpPr>
        <p:spPr>
          <a:xfrm>
            <a:off x="8183880" y="484632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2"/>
          <p:cNvSpPr txBox="1"/>
          <p:nvPr/>
        </p:nvSpPr>
        <p:spPr>
          <a:xfrm>
            <a:off x="8183880" y="4846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78" name="Text 73"/>
          <p:cNvSpPr txBox="1"/>
          <p:nvPr/>
        </p:nvSpPr>
        <p:spPr>
          <a:xfrm>
            <a:off x="8494776" y="4828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images — 인코딩 전 프레임</a:t>
            </a:r>
            <a:endParaRPr lang="en-US" sz="1150" dirty="0"/>
          </a:p>
        </p:txBody>
      </p:sp>
      <p:sp>
        <p:nvSpPr>
          <p:cNvPr id="79" name="Text 74"/>
          <p:cNvSpPr txBox="1"/>
          <p:nvPr/>
        </p:nvSpPr>
        <p:spPr>
          <a:xfrm>
            <a:off x="8494776" y="5120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/ front</a:t>
            </a:r>
            <a:endParaRPr lang="en-US" sz="850" dirty="0"/>
          </a:p>
        </p:txBody>
      </p:sp>
      <p:sp>
        <p:nvSpPr>
          <p:cNvPr id="80" name="Text 75"/>
          <p:cNvSpPr txBox="1"/>
          <p:nvPr/>
        </p:nvSpPr>
        <p:spPr>
          <a:xfrm>
            <a:off x="9811512" y="5120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생성용 임시 저장</a:t>
            </a:r>
            <a:endParaRPr lang="en-US" sz="900" dirty="0"/>
          </a:p>
        </p:txBody>
      </p:sp>
      <p:sp>
        <p:nvSpPr>
          <p:cNvPr id="81" name="Shape 76"/>
          <p:cNvSpPr/>
          <p:nvPr/>
        </p:nvSpPr>
        <p:spPr>
          <a:xfrm>
            <a:off x="8183880" y="2651760"/>
            <a:ext cx="345643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7"/>
          <p:cNvSpPr/>
          <p:nvPr/>
        </p:nvSpPr>
        <p:spPr>
          <a:xfrm>
            <a:off x="8183880" y="4069080"/>
            <a:ext cx="345643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78"/>
          <p:cNvSpPr/>
          <p:nvPr/>
        </p:nvSpPr>
        <p:spPr>
          <a:xfrm>
            <a:off x="8183880" y="4754880"/>
            <a:ext cx="345643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79"/>
          <p:cNvSpPr/>
          <p:nvPr/>
        </p:nvSpPr>
        <p:spPr>
          <a:xfrm>
            <a:off x="6080760" y="54864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0"/>
          <p:cNvSpPr txBox="1"/>
          <p:nvPr/>
        </p:nvSpPr>
        <p:spPr>
          <a:xfrm>
            <a:off x="6080760" y="5486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episode_index</a:t>
            </a:r>
            <a:endParaRPr lang="en-US" sz="900" dirty="0"/>
          </a:p>
        </p:txBody>
      </p:sp>
      <p:sp>
        <p:nvSpPr>
          <p:cNvPr id="86" name="Shape 81"/>
          <p:cNvSpPr/>
          <p:nvPr/>
        </p:nvSpPr>
        <p:spPr>
          <a:xfrm>
            <a:off x="7406640" y="5623560"/>
            <a:ext cx="246888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2"/>
          <p:cNvSpPr/>
          <p:nvPr/>
        </p:nvSpPr>
        <p:spPr>
          <a:xfrm>
            <a:off x="7653528" y="5486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3"/>
          <p:cNvSpPr txBox="1"/>
          <p:nvPr/>
        </p:nvSpPr>
        <p:spPr>
          <a:xfrm>
            <a:off x="7653528" y="5486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수치</a:t>
            </a:r>
            <a:endParaRPr lang="en-US" sz="800" dirty="0"/>
          </a:p>
        </p:txBody>
      </p:sp>
      <p:sp>
        <p:nvSpPr>
          <p:cNvPr id="89" name="Shape 84"/>
          <p:cNvSpPr/>
          <p:nvPr/>
        </p:nvSpPr>
        <p:spPr>
          <a:xfrm>
            <a:off x="8842248" y="5623560"/>
            <a:ext cx="22860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5"/>
          <p:cNvSpPr/>
          <p:nvPr/>
        </p:nvSpPr>
        <p:spPr>
          <a:xfrm>
            <a:off x="9070848" y="5486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6"/>
          <p:cNvSpPr txBox="1"/>
          <p:nvPr/>
        </p:nvSpPr>
        <p:spPr>
          <a:xfrm>
            <a:off x="9070848" y="5486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· 구간·위치</a:t>
            </a:r>
            <a:endParaRPr lang="en-US" sz="800" dirty="0"/>
          </a:p>
        </p:txBody>
      </p:sp>
      <p:sp>
        <p:nvSpPr>
          <p:cNvPr id="92" name="Shape 87"/>
          <p:cNvSpPr/>
          <p:nvPr/>
        </p:nvSpPr>
        <p:spPr>
          <a:xfrm>
            <a:off x="10259568" y="5623560"/>
            <a:ext cx="228600" cy="0"/>
          </a:xfrm>
          <a:prstGeom prst="line">
            <a:avLst/>
          </a:prstGeom>
          <a:noFill/>
          <a:ln w="12700">
            <a:solidFill>
              <a:srgbClr val="D2D2D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88"/>
          <p:cNvSpPr/>
          <p:nvPr/>
        </p:nvSpPr>
        <p:spPr>
          <a:xfrm>
            <a:off x="10488168" y="54864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89"/>
          <p:cNvSpPr txBox="1"/>
          <p:nvPr/>
        </p:nvSpPr>
        <p:spPr>
          <a:xfrm>
            <a:off x="10488168" y="5486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videos · 영상</a:t>
            </a:r>
            <a:endParaRPr lang="en-US" sz="800" dirty="0"/>
          </a:p>
        </p:txBody>
      </p:sp>
      <p:sp>
        <p:nvSpPr>
          <p:cNvPr id="95" name="Shape 90"/>
          <p:cNvSpPr/>
          <p:nvPr/>
        </p:nvSpPr>
        <p:spPr>
          <a:xfrm>
            <a:off x="6080760" y="5897880"/>
            <a:ext cx="5559552" cy="393192"/>
          </a:xfrm>
          <a:prstGeom prst="roundRect">
            <a:avLst>
              <a:gd name="adj" fmla="val 23256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1"/>
          <p:cNvSpPr txBox="1"/>
          <p:nvPr/>
        </p:nvSpPr>
        <p:spPr>
          <a:xfrm>
            <a:off x="6263640" y="5897880"/>
            <a:ext cx="5285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52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따로 삭제하면 data · meta · videos 사이의 연결이 어긋남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수집 규격으로 3개 Task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HOME · 카메라 · 저장 구조를 공유하고, Task마다 시작 · 수행 · 성공 기준만 다르게 정의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&amp; PLACE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1746504"/>
            <a:ext cx="4306824" cy="0"/>
          </a:xfrm>
          <a:prstGeom prst="line">
            <a:avLst/>
          </a:prstGeom>
          <a:noFill/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892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(top-down</a:t>
            </a:r>
            <a:r>
              <a:rPr lang="ko-KR" alt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grasp)</a:t>
            </a:r>
            <a:endParaRPr lang="en-US" sz="1600" dirty="0"/>
          </a:p>
        </p:txBody>
      </p:sp>
      <p:pic>
        <p:nvPicPr>
          <p:cNvPr id="10" name="Image 0" descr="assets/doll_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2633472" cy="20361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8368" y="3974718"/>
            <a:ext cx="7543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58368" y="3974718"/>
            <a:ext cx="75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장면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" y="4828032"/>
            <a:ext cx="263347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44988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498848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인형을 박스 밖 지정 위치에 배치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37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4937760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 </a:t>
            </a:r>
            <a:r>
              <a:rPr lang="en-US" sz="950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집기 → 박스 안으로 이동 → 그리퍼를 열어 내려놓기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5468112"/>
            <a:ext cx="2633472" cy="658368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58368" y="5559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" y="5559552"/>
            <a:ext cx="2020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인형이 박스 안에 완전히 들어가고, 로봇이 인형에서 떨어짐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364992" y="1892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종이컵</a:t>
            </a: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(side-grasp)</a:t>
            </a:r>
            <a:endParaRPr lang="en-US" sz="1600" dirty="0"/>
          </a:p>
        </p:txBody>
      </p:sp>
      <p:pic>
        <p:nvPicPr>
          <p:cNvPr id="22" name="Image 1" descr="assets/cup_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286000"/>
            <a:ext cx="2633472" cy="203619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474720" y="3974718"/>
            <a:ext cx="7543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3474720" y="3974718"/>
            <a:ext cx="75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장면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364992" y="4828032"/>
            <a:ext cx="263347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3364992" y="44988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776472" y="4498848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종이컵을 세운 상태로 배치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3364992" y="4937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3776472" y="4937760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옆에서 </a:t>
            </a:r>
            <a:r>
              <a:rPr lang="en-US" sz="950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집기 → 표시된 목표 영역으로 이동 → 세워서 내려놓기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364992" y="5468112"/>
            <a:ext cx="2633472" cy="658368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3474720" y="5559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3886200" y="5559552"/>
            <a:ext cx="2020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목표 영역 안에 있고, </a:t>
            </a:r>
            <a:r>
              <a:rPr lang="ko-KR" alt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과하게 찌그러지거나 </a:t>
            </a:r>
            <a:r>
              <a:rPr lang="en-US" sz="950" b="1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쓰러지지</a:t>
            </a: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않음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6181344" y="16459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SORTING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6181344" y="1892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종류별 분류</a:t>
            </a:r>
            <a:endParaRPr lang="en-US" sz="1600" dirty="0"/>
          </a:p>
        </p:txBody>
      </p:sp>
      <p:pic>
        <p:nvPicPr>
          <p:cNvPr id="35" name="Image 2" descr="assets/s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286000"/>
            <a:ext cx="2633472" cy="203619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6291072" y="3974718"/>
            <a:ext cx="200253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6291072" y="3974718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예시 · 인형·컵 목표 위치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181344" y="4828032"/>
            <a:ext cx="263347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6181344" y="44988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592824" y="4498848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종류의 물체를 섞어 배치</a:t>
            </a:r>
            <a:endParaRPr lang="en-US" sz="950" dirty="0"/>
          </a:p>
        </p:txBody>
      </p:sp>
      <p:sp>
        <p:nvSpPr>
          <p:cNvPr id="41" name="Text 36"/>
          <p:cNvSpPr txBox="1"/>
          <p:nvPr/>
        </p:nvSpPr>
        <p:spPr>
          <a:xfrm>
            <a:off x="6181344" y="4937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6592824" y="4937760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물체를 하나씩 집어 종류에 맞는 목표 위치로 이동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181344" y="5468112"/>
            <a:ext cx="2633472" cy="658368"/>
          </a:xfrm>
          <a:prstGeom prst="roundRect">
            <a:avLst>
              <a:gd name="adj" fmla="val 11111"/>
            </a:avLst>
          </a:prstGeom>
          <a:solidFill>
            <a:srgbClr val="EEEEFB"/>
          </a:solidFill>
          <a:ln w="12700">
            <a:solidFill>
              <a:srgbClr val="EEEE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 txBox="1"/>
          <p:nvPr/>
        </p:nvSpPr>
        <p:spPr>
          <a:xfrm>
            <a:off x="6291072" y="5559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702552" y="5559552"/>
            <a:ext cx="2020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물체가 맞는 위치에 있고, 잘못 분류된 물체가 없음</a:t>
            </a:r>
            <a:endParaRPr lang="en-US" sz="950" dirty="0"/>
          </a:p>
        </p:txBody>
      </p:sp>
      <p:sp>
        <p:nvSpPr>
          <p:cNvPr id="46" name="Text 41"/>
          <p:cNvSpPr txBox="1"/>
          <p:nvPr/>
        </p:nvSpPr>
        <p:spPr>
          <a:xfrm>
            <a:off x="8997696" y="16459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</a:t>
            </a:r>
            <a:endParaRPr lang="en-US" sz="950" dirty="0"/>
          </a:p>
        </p:txBody>
      </p:sp>
      <p:sp>
        <p:nvSpPr>
          <p:cNvPr id="47" name="Text 42"/>
          <p:cNvSpPr txBox="1"/>
          <p:nvPr/>
        </p:nvSpPr>
        <p:spPr>
          <a:xfrm>
            <a:off x="8997696" y="1892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쌓기</a:t>
            </a:r>
            <a:endParaRPr lang="en-US" sz="1600" dirty="0"/>
          </a:p>
        </p:txBody>
      </p:sp>
      <p:pic>
        <p:nvPicPr>
          <p:cNvPr id="48" name="Image 3" descr="assets/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696" y="2286000"/>
            <a:ext cx="2633472" cy="2036190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9107424" y="3974718"/>
            <a:ext cx="7543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 txBox="1"/>
          <p:nvPr/>
        </p:nvSpPr>
        <p:spPr>
          <a:xfrm>
            <a:off x="9107424" y="3974718"/>
            <a:ext cx="7543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장면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997696" y="4828032"/>
            <a:ext cx="2633472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6"/>
          <p:cNvSpPr txBox="1"/>
          <p:nvPr/>
        </p:nvSpPr>
        <p:spPr>
          <a:xfrm>
            <a:off x="8997696" y="44988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9409176" y="4498848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쌓을 박스를 서로 떨어뜨려 배치</a:t>
            </a:r>
            <a:endParaRPr lang="en-US" sz="950" dirty="0"/>
          </a:p>
        </p:txBody>
      </p:sp>
      <p:sp>
        <p:nvSpPr>
          <p:cNvPr id="54" name="Text 48"/>
          <p:cNvSpPr txBox="1"/>
          <p:nvPr/>
        </p:nvSpPr>
        <p:spPr>
          <a:xfrm>
            <a:off x="8997696" y="4937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9409176" y="4937760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개수(2·3·4개)만큼 박스를 차례로 쌓기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8997696" y="5468112"/>
            <a:ext cx="2633472" cy="658368"/>
          </a:xfrm>
          <a:prstGeom prst="roundRect">
            <a:avLst>
              <a:gd name="adj" fmla="val 11111"/>
            </a:avLst>
          </a:prstGeom>
          <a:solidFill>
            <a:srgbClr val="E8F4EB"/>
          </a:solidFill>
          <a:ln w="12700">
            <a:solidFill>
              <a:srgbClr val="E8F4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 txBox="1"/>
          <p:nvPr/>
        </p:nvSpPr>
        <p:spPr>
          <a:xfrm>
            <a:off x="9107424" y="5559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9518904" y="5559552"/>
            <a:ext cx="2020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요구한 개수만큼 쌓이고, 손을 뗀 뒤에도 유지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&amp; TASK LABELING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수집부터 추론까지, 하나의 데이터 흐름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수집·저장하고 NAVER Cloud를 거쳐 B200에서 학습한 checkpoint를 다시 SO-101에 적용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4663440" cy="1737360"/>
          </a:xfrm>
          <a:prstGeom prst="roundRect">
            <a:avLst>
              <a:gd name="adj" fmla="val 736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1627632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05272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06640" y="1627632"/>
            <a:ext cx="4233672" cy="1737360"/>
          </a:xfrm>
          <a:prstGeom prst="roundRect">
            <a:avLst>
              <a:gd name="adj" fmla="val 736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571232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SERVER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196596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41248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331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Leader + Follower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2대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8437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Teleoperation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39112" y="2560320"/>
            <a:ext cx="192024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258568" y="196596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368296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PC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68296" y="2331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3080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368296" y="28437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데이터셋 생성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66160" y="2560320"/>
            <a:ext cx="192024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785616" y="196596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895344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SSD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895344" y="23317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단위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저장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895344" y="28437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주기적 업로드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93208" y="2560320"/>
            <a:ext cx="457200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577840" y="196596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687568" y="2075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Cloud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87568" y="23317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Storage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보관 · 공유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87568" y="284378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학습 시 다운로드 · 캐시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68312" y="2560320"/>
            <a:ext cx="466344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562088" y="196596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671816" y="207568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B200 Server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671816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B200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캐시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671816" y="28437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Training 실행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759952" y="2560320"/>
            <a:ext cx="182880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970264" y="196596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079992" y="207568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079992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· SmolVLA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079992" y="28437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Task별 · 통합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168128" y="2560320"/>
            <a:ext cx="182880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0378440" y="1965960"/>
            <a:ext cx="1170432" cy="11887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488168" y="207568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488168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가중치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0488168" y="28437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Inference 배포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963656" y="3154680"/>
            <a:ext cx="0" cy="484632"/>
          </a:xfrm>
          <a:prstGeom prst="line">
            <a:avLst/>
          </a:prstGeom>
          <a:noFill/>
          <a:ln w="15875">
            <a:solidFill>
              <a:srgbClr val="0066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371600" y="3639312"/>
            <a:ext cx="9592056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 flipV="1">
            <a:off x="1371600" y="3154680"/>
            <a:ext cx="0" cy="484632"/>
          </a:xfrm>
          <a:prstGeom prst="line">
            <a:avLst/>
          </a:prstGeom>
          <a:noFill/>
          <a:ln w="15875">
            <a:solidFill>
              <a:srgbClr val="0066CC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480560" y="3502152"/>
            <a:ext cx="324612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4480560" y="3502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Inference  ·  checkpoint로 실제 로봇 제어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041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문장 기록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148840" y="40782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episode에 자연어 task 문장을 함께 저장 → task_index로 자동 연결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389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123444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4983480" y="43891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8640" y="4590288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548640" y="45902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188720" y="459028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"Pick up the doll and place it in the container."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983480" y="463143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4983480" y="46314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&amp; Place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48640" y="4873752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548640" y="487375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1188720" y="4873752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"Pick up the paper cup and place it in the container."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983480" y="4914900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4983480" y="49149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&amp; Place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8640" y="5157216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548640" y="515721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1188720" y="515721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"Sort the doll and the paper cup into their containers."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983480" y="5198364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EEEFB"/>
          </a:solidFill>
          <a:ln w="12700">
            <a:solidFill>
              <a:srgbClr val="EEEE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4983480" y="51983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Sorting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8640" y="5440680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548640" y="54406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1188720" y="5440680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"Stack two boxes."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983480" y="54818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4EB"/>
          </a:solidFill>
          <a:ln w="12700">
            <a:solidFill>
              <a:srgbClr val="E8F4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4983480" y="54818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48640" y="5724144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548640" y="572414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1188720" y="5724144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"Stack three boxes."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983480" y="5765292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4EB"/>
          </a:solidFill>
          <a:ln w="12700">
            <a:solidFill>
              <a:srgbClr val="E8F4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4983480" y="57652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48640" y="6007608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548640" y="600760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1188720" y="600760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"Stack four boxes."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983480" y="604875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8F4EB"/>
          </a:solidFill>
          <a:ln w="12700">
            <a:solidFill>
              <a:srgbClr val="E8F4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 txBox="1"/>
          <p:nvPr/>
        </p:nvSpPr>
        <p:spPr>
          <a:xfrm>
            <a:off x="4983480" y="60487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48640" y="6291072"/>
            <a:ext cx="58978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6720840" y="4059936"/>
            <a:ext cx="2368296" cy="1737360"/>
          </a:xfrm>
          <a:prstGeom prst="roundRect">
            <a:avLst>
              <a:gd name="adj" fmla="val 631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 txBox="1"/>
          <p:nvPr/>
        </p:nvSpPr>
        <p:spPr>
          <a:xfrm>
            <a:off x="6903720" y="420624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903720" y="456285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6903720" y="4562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입력 없음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6903720" y="4901184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task_index로 episode를 골라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Task별로 따로 학습</a:t>
            </a:r>
            <a:endParaRPr 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6903720" y="532180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 &amp; Place · Sorting · Stacking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baseline 모델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272016" y="4059936"/>
            <a:ext cx="2368296" cy="1737360"/>
          </a:xfrm>
          <a:prstGeom prst="roundRect">
            <a:avLst>
              <a:gd name="adj" fmla="val 6316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9454896" y="420624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SmolVLA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9454896" y="4562856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 txBox="1"/>
          <p:nvPr/>
        </p:nvSpPr>
        <p:spPr>
          <a:xfrm>
            <a:off x="9454896" y="4562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입력으로 사용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9454896" y="4901184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문장 전체를 한 모델로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학습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9454896" y="532180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 문장으로 작업 지정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"Stack three boxes."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20840" y="5888736"/>
            <a:ext cx="4919472" cy="402336"/>
          </a:xfrm>
          <a:prstGeom prst="roundRect">
            <a:avLst>
              <a:gd name="adj" fmla="val 22727"/>
            </a:avLst>
          </a:prstGeom>
          <a:solidFill>
            <a:srgbClr val="FCEFE6"/>
          </a:solidFill>
          <a:ln w="12700">
            <a:solidFill>
              <a:srgbClr val="FCEF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 txBox="1"/>
          <p:nvPr/>
        </p:nvSpPr>
        <p:spPr>
          <a:xfrm>
            <a:off x="6885432" y="5888736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52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규칙  </a:t>
            </a: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문장 목록에서만 선택 — 표현이 조금만 달라도 다른 task로 저장됨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RESULT &amp; SOS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교수님, 2 TB </a:t>
            </a:r>
            <a:r>
              <a:rPr lang="en-US" sz="2600" b="1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계산해봤는데요</a:t>
            </a:r>
            <a:r>
              <a:rPr lang="en-US" sz="2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ㅠㅠ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찍어보고 LeRobot 데이터셋 기준으로 장난삼아 계산해봤다가… 조용히 무서워졌어요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SO-101 · LeRobot Dataset 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일단 7개 찍어봄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episode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0116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frame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3,951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26883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episode당 평균 frame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62656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episode당 평균 시간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999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18.8 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3346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합쳐서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328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155.5 MB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621024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1개당 평균 용량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3657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 MB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2461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16052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 두드려본 과정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0520" y="1975104"/>
            <a:ext cx="342900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4325112" y="1975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찍으면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1975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22.2 MB / episode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2487168"/>
            <a:ext cx="342900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4325112" y="2487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TB 채우려면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2,000,000 MB ÷ 22.2 MB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286207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2999232"/>
            <a:ext cx="3429000" cy="384048"/>
          </a:xfrm>
          <a:prstGeom prst="roundRect">
            <a:avLst>
              <a:gd name="adj" fmla="val 2381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4325112" y="2999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9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개수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2999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90,000 episodes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33741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0520" y="3511296"/>
            <a:ext cx="3429000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4325112" y="35112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3개로 나누면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35112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Task당 ≈ 30,000 ㅠ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55280" y="1645920"/>
            <a:ext cx="3685032" cy="2331720"/>
          </a:xfrm>
          <a:prstGeom prst="roundRect">
            <a:avLst>
              <a:gd name="adj" fmla="val 549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2296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TB를 채우려면요…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205740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90,000</a:t>
            </a:r>
            <a:endParaRPr lang="en-US" sz="44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2788920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episodes · 지금 찍은 7개의 약 1.3만 배 (네?)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29600" y="3136392"/>
            <a:ext cx="3136392" cy="0"/>
          </a:xfrm>
          <a:prstGeom prst="line">
            <a:avLst/>
          </a:prstGeom>
          <a:noFill/>
          <a:ln w="9525">
            <a:solidFill>
              <a:srgbClr val="B9D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229600" y="3246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1달 반(45일) 동안 매일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34381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2,000개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· 밥 · 잠 없이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797796" y="3246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PREP까지 치면 매일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797796" y="34381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13.3 h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9797796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86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0번이라는 가정…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8640" y="4133088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777240" y="4133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 err="1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살려주세요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885950" y="4270248"/>
            <a:ext cx="0" cy="384048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185989" y="4133088"/>
            <a:ext cx="93354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심지어  위 용량엔 임시 image 폴더도 들어 있어서, 최종 LeRobot 데이터셋만 치면 1개당 용량이 더 </a:t>
            </a:r>
            <a:r>
              <a:rPr lang="en-US" sz="900" dirty="0" err="1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작아요</a:t>
            </a: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…. 2 TB 채우려면 개수가 오히려 더 늘어남…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Sorting · </a:t>
            </a:r>
            <a:r>
              <a:rPr lang="en-US" sz="900" dirty="0" err="1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Stacking은</a:t>
            </a: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길</a:t>
            </a:r>
            <a:r>
              <a:rPr lang="ko-KR" alt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하겠지만</a:t>
            </a:r>
            <a:r>
              <a:rPr lang="en-US" altLang="ko-KR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9536" y="5065776"/>
            <a:ext cx="1482852" cy="0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48640" y="4937760"/>
            <a:ext cx="256032" cy="256032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548640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Task별 Pilot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Task마다 10~30개만 먼저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걸리는 시간 재보기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08148" y="5065776"/>
            <a:ext cx="1482852" cy="0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2397252" y="49377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2397252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2397252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· 재계산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2397252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시간·용량·성공률 보고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현실적인 개수 다시 계산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56760" y="5065776"/>
            <a:ext cx="1482852" cy="0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245864" y="49377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4245864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4245864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조건 고정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245864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물체·배치·성공 기준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정해두고 반복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405372" y="5065776"/>
            <a:ext cx="1482852" cy="0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094476" y="49377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094476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6094476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수집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094476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실패는 과감히 버리고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episode만 차곡차곡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253984" y="5065776"/>
            <a:ext cx="1482852" cy="0"/>
          </a:xfrm>
          <a:prstGeom prst="line">
            <a:avLst/>
          </a:prstGeom>
          <a:noFill/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7943088" y="49377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 txBox="1"/>
          <p:nvPr/>
        </p:nvSpPr>
        <p:spPr>
          <a:xfrm>
            <a:off x="7943088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7943088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Cloud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7943088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올려두고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· 공유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791700" y="4937760"/>
            <a:ext cx="256032" cy="256032"/>
          </a:xfrm>
          <a:prstGeom prst="ellipse">
            <a:avLst/>
          </a:prstGeom>
          <a:solidFill>
            <a:srgbClr val="0066CC"/>
          </a:solidFill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9791700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9791700" y="5266944"/>
            <a:ext cx="171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B200 학습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791700" y="5504688"/>
            <a:ext cx="1738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ACT: Task별 baseline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SmolVLA: 문장 조건 통합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77824" y="4946904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877824" y="49469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48640" y="6053328"/>
            <a:ext cx="11091672" cy="301752"/>
          </a:xfrm>
          <a:prstGeom prst="roundRect">
            <a:avLst>
              <a:gd name="adj" fmla="val 24242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777240" y="6053328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CF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진짜로</a:t>
            </a:r>
            <a:r>
              <a:rPr lang="en-US" altLang="ko-KR" sz="1150" b="1" dirty="0">
                <a:solidFill>
                  <a:srgbClr val="CF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…. </a:t>
            </a: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한달 </a:t>
            </a:r>
            <a:r>
              <a:rPr lang="ko-KR" altLang="en-US" sz="11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반만에</a:t>
            </a: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혼자 진짜 </a:t>
            </a:r>
            <a:r>
              <a:rPr lang="en-US" altLang="ko-KR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테라요</a:t>
            </a:r>
            <a:r>
              <a:rPr lang="en-US" altLang="ko-KR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…….?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1283</Words>
  <Application>Microsoft Office PowerPoint</Application>
  <PresentationFormat>와이드스크린</PresentationFormat>
  <Paragraphs>330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SO-101 기반 LeRobot 데이터셋 수집</dc:title>
  <dc:subject>PptxGenJS Presentation</dc:subject>
  <dc:creator>PptxGenJS</dc:creator>
  <cp:lastModifiedBy>김해민</cp:lastModifiedBy>
  <cp:revision>10</cp:revision>
  <dcterms:created xsi:type="dcterms:W3CDTF">2026-09-16T17:11:33Z</dcterms:created>
  <dcterms:modified xsi:type="dcterms:W3CDTF">2026-09-17T02:33:12Z</dcterms:modified>
</cp:coreProperties>
</file>
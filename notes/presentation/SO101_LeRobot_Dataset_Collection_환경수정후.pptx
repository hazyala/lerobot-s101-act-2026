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cd0f1a573f4e61" /><Relationship Type="http://schemas.openxmlformats.org/officeDocument/2006/relationships/extended-properties" Target="/docProps/app.xml" Id="Rc7e4e266dd314cad" /><Relationship Type="http://schemas.openxmlformats.org/officeDocument/2006/relationships/officeDocument" Target="/ppt/presentation.xml" Id="Rbe85823a48644e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ad4838f9484798"/>
  </p:sldMasterIdLst>
  <p:notesMasterIdLst>
    <p:notesMasterId xmlns:r="http://schemas.openxmlformats.org/officeDocument/2006/relationships" r:id="Rf9905c6f7f5b43c3"/>
  </p:notesMasterIdLst>
  <p:sldIdLst>
    <p:sldId xmlns:r="http://schemas.openxmlformats.org/officeDocument/2006/relationships" id="256" r:id="Ra443510856054b71"/>
    <p:sldId xmlns:r="http://schemas.openxmlformats.org/officeDocument/2006/relationships" id="257" r:id="R5666b4a6f6214bf0"/>
    <p:sldId xmlns:r="http://schemas.openxmlformats.org/officeDocument/2006/relationships" id="258" r:id="R9b862e26e20e405e"/>
    <p:sldId xmlns:r="http://schemas.openxmlformats.org/officeDocument/2006/relationships" id="259" r:id="R3c152de398f54853"/>
    <p:sldId xmlns:r="http://schemas.openxmlformats.org/officeDocument/2006/relationships" id="260" r:id="R4d803a5d66364f2d"/>
    <p:sldId xmlns:r="http://schemas.openxmlformats.org/officeDocument/2006/relationships" id="261" r:id="Rcdf3313c08724197"/>
    <p:sldId xmlns:r="http://schemas.openxmlformats.org/officeDocument/2006/relationships" id="262" r:id="R212e474f636d42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e9fa9925034732" /><Relationship Type="http://schemas.openxmlformats.org/officeDocument/2006/relationships/slideMaster" Target="/ppt/slideMasters/slideMaster1.xml" Id="Racad4838f9484798" /><Relationship Type="http://schemas.openxmlformats.org/officeDocument/2006/relationships/notesMaster" Target="/ppt/notesMasters/notesMaster1.xml" Id="Rf9905c6f7f5b43c3" /><Relationship Type="http://schemas.openxmlformats.org/officeDocument/2006/relationships/presProps" Target="/ppt/presProps.xml" Id="Rb07801a18509432d" /><Relationship Type="http://schemas.openxmlformats.org/officeDocument/2006/relationships/viewProps" Target="/ppt/viewProps.xml" Id="Ra02bf1a023e442b9" /><Relationship Type="http://schemas.openxmlformats.org/officeDocument/2006/relationships/tableStyles" Target="/ppt/tableStyles.xml" Id="Rf4037bcf6af043a6" /><Relationship Type="http://schemas.openxmlformats.org/officeDocument/2006/relationships/slide" Target="/ppt/slides/slide1.xml" Id="Ra443510856054b71" /><Relationship Type="http://schemas.openxmlformats.org/officeDocument/2006/relationships/slide" Target="/ppt/slides/slide2.xml" Id="R5666b4a6f6214bf0" /><Relationship Type="http://schemas.openxmlformats.org/officeDocument/2006/relationships/slide" Target="/ppt/slides/slide3.xml" Id="R9b862e26e20e405e" /><Relationship Type="http://schemas.openxmlformats.org/officeDocument/2006/relationships/slide" Target="/ppt/slides/slide4.xml" Id="R3c152de398f54853" /><Relationship Type="http://schemas.openxmlformats.org/officeDocument/2006/relationships/slide" Target="/ppt/slides/slide5.xml" Id="R4d803a5d66364f2d" /><Relationship Type="http://schemas.openxmlformats.org/officeDocument/2006/relationships/slide" Target="/ppt/slides/slide6.xml" Id="Rcdf3313c08724197" /><Relationship Type="http://schemas.openxmlformats.org/officeDocument/2006/relationships/slide" Target="/ppt/slides/slide7.xml" Id="R212e474f636d42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19a9399cec48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cfecc658ea4fe3" /><Relationship Type="http://schemas.openxmlformats.org/officeDocument/2006/relationships/notesMaster" Target="/ppt/notesMasters/notesMaster1.xml" Id="R767a22c82c7745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724d8ed0d34a28" /><Relationship Type="http://schemas.openxmlformats.org/officeDocument/2006/relationships/notesMaster" Target="/ppt/notesMasters/notesMaster1.xml" Id="R558b4c58e91b45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3856fd64e749e5" /><Relationship Type="http://schemas.openxmlformats.org/officeDocument/2006/relationships/notesMaster" Target="/ppt/notesMasters/notesMaster1.xml" Id="Redd64e9a1f0147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82beb08bf14e59" /><Relationship Type="http://schemas.openxmlformats.org/officeDocument/2006/relationships/notesMaster" Target="/ppt/notesMasters/notesMaster1.xml" Id="Rc6ae0074acdb47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7b9d2a61554db4" /><Relationship Type="http://schemas.openxmlformats.org/officeDocument/2006/relationships/notesMaster" Target="/ppt/notesMasters/notesMaster1.xml" Id="Rcb5cc8cf3b5b4e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abb1d330244044" /><Relationship Type="http://schemas.openxmlformats.org/officeDocument/2006/relationships/notesMaster" Target="/ppt/notesMasters/notesMaster1.xml" Id="Ra8ef76fce1f64c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6a4014076c4a15" /><Relationship Type="http://schemas.openxmlformats.org/officeDocument/2006/relationships/notesMaster" Target="/ppt/notesMasters/notesMaster1.xml" Id="Rc077eb28457248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8092b4df9a4f0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76c1d6c9dc4f78" /><Relationship Type="http://schemas.openxmlformats.org/officeDocument/2006/relationships/slideLayout" Target="/ppt/slideLayouts/slideLayout1.xml" Id="R3823801130d342a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23801130d342a7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b6ebe29e547b0" /><Relationship Type="http://schemas.openxmlformats.org/officeDocument/2006/relationships/image" Target="/ppt/media/image.png" Id="R8fc62ed3c0124a86" /><Relationship Type="http://schemas.openxmlformats.org/officeDocument/2006/relationships/notesSlide" Target="/ppt/notesSlides/notesSlide1.xml" Id="R6529e8a0497b4e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96116f434463c" /><Relationship Type="http://schemas.openxmlformats.org/officeDocument/2006/relationships/image" Target="/ppt/media/image2.png" Id="R50f2fa67d7b348f1" /><Relationship Type="http://schemas.openxmlformats.org/officeDocument/2006/relationships/image" Target="/ppt/media/image3.png" Id="Rc6674cc24e154421" /><Relationship Type="http://schemas.openxmlformats.org/officeDocument/2006/relationships/notesSlide" Target="/ppt/notesSlides/notesSlide2.xml" Id="R3d060dedd9aa40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ad9b805af475e" /><Relationship Type="http://schemas.openxmlformats.org/officeDocument/2006/relationships/image" Target="/ppt/media/image4.png" Id="R3906f5a7da8e4a01" /><Relationship Type="http://schemas.openxmlformats.org/officeDocument/2006/relationships/image" Target="/ppt/media/image5.png" Id="R47c2599d059d4685" /><Relationship Type="http://schemas.openxmlformats.org/officeDocument/2006/relationships/image" Target="/ppt/media/image6.png" Id="R0ffce6b2849f4f72" /><Relationship Type="http://schemas.openxmlformats.org/officeDocument/2006/relationships/notesSlide" Target="/ppt/notesSlides/notesSlide3.xml" Id="R247bc643f70340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983acec0f497d" /><Relationship Type="http://schemas.openxmlformats.org/officeDocument/2006/relationships/image" Target="/ppt/media/image7.png" Id="R66e9626c757646a8" /><Relationship Type="http://schemas.openxmlformats.org/officeDocument/2006/relationships/image" Target="/ppt/media/image8.png" Id="R57cafe5afe2d4088" /><Relationship Type="http://schemas.openxmlformats.org/officeDocument/2006/relationships/image" Target="/ppt/media/image9.png" Id="Rafe2eb355ef34b13" /><Relationship Type="http://schemas.openxmlformats.org/officeDocument/2006/relationships/image" Target="/ppt/media/image10.png" Id="R8d3d9799a296498a" /><Relationship Type="http://schemas.openxmlformats.org/officeDocument/2006/relationships/notesSlide" Target="/ppt/notesSlides/notesSlide4.xml" Id="R35b64d293c3d42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97c9e83ea424a" /><Relationship Type="http://schemas.openxmlformats.org/officeDocument/2006/relationships/notesSlide" Target="/ppt/notesSlides/notesSlide5.xml" Id="R5c904a5a058545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32b2932804a36" /><Relationship Type="http://schemas.openxmlformats.org/officeDocument/2006/relationships/image" Target="/ppt/media/image11.png" Id="R113ee0da46e74999" /><Relationship Type="http://schemas.openxmlformats.org/officeDocument/2006/relationships/image" Target="/ppt/media/image12.png" Id="R1fbd913062f94d5d" /><Relationship Type="http://schemas.openxmlformats.org/officeDocument/2006/relationships/notesSlide" Target="/ppt/notesSlides/notesSlide6.xml" Id="Rdd3955d7fa494f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ab986423f4276" /><Relationship Type="http://schemas.openxmlformats.org/officeDocument/2006/relationships/notesSlide" Target="/ppt/notesSlides/notesSlide7.xml" Id="R29aaf68509a442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79D1F03-1A11-487A-9337-14896F18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4572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6868B"/>
                </a:solidFill>
                <a:latin typeface="Malgun Gothic"/>
                <a:ea typeface="Malgun Gothic"/>
                <a:cs typeface="Malgun Gothic"/>
              </a:rPr>
              <a:t>SO-101 · LeRobot Dataset Collection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65882AA-A07A-44E1-8B90-C109F616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512" y="647395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86868B"/>
                </a:solidFill>
                <a:latin typeface="Malgun Gothic"/>
                <a:ea typeface="Malgun Gothic"/>
                <a:cs typeface="Malgun Gothic"/>
              </a:rPr>
              <a:t>01 / 07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8728065-484A-494E-865B-99106A41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50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PROJECT OVERVIEW</a:t>
            </a:r>
            <a:endParaRPr sz="10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D371FD8-41EC-4024-AE68-06415605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66751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95000"/>
              </a:lnSpc>
              <a:buNone/>
            </a:pPr>
            <a:r>
              <a:rPr sz="40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SO-101 기반</a:t>
            </a:r>
            <a:endParaRPr sz="4000"/>
          </a:p>
          <a:p xmlns:a="http://schemas.openxmlformats.org/drawingml/2006/main">
            <a:pPr marL="0" indent="0">
              <a:lnSpc>
                <a:spcPct val="95000"/>
              </a:lnSpc>
              <a:buNone/>
            </a:pPr>
            <a:r>
              <a:rPr sz="40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LeRobot 데이터셋 수집</a:t>
            </a:r>
            <a:endParaRPr sz="4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EC3FD3A-2607-4142-9C97-5BB2ACD8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86000"/>
            <a:ext cx="6675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사람의 조작을 기록해, 로봇이 학습할 수 있는 데이터로 저장합니다.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0BAC32C-EE86-4432-BF8B-C342B5DA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0"/>
            <a:ext cx="1600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3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123D873-ACE4-4B63-8E74-096A8537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290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Tasks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F716DA8-022C-4A25-BF10-0F695784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0"/>
            <a:ext cx="1600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Pick &amp; Place · Sorting</a:t>
            </a:r>
            <a:endParaRPr sz="900"/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· Stacking</a:t>
            </a:r>
            <a:endParaRPr sz="9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6E323DD-C4ED-48F9-8102-D38658BB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408" y="2999232"/>
            <a:ext cx="0" cy="9601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B59B10A-EC00-4D1F-9476-FE50368F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424" y="2926080"/>
            <a:ext cx="1600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25</a:t>
            </a:r>
            <a:endParaRPr sz="3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B3669EB-1EBD-4B92-9243-5988C3E0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424" y="34290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Validated Episodes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BBD748-D69B-4CEE-A921-539DA782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424" y="3657600"/>
            <a:ext cx="1600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영상·프레임 검증을 통과한</a:t>
            </a:r>
            <a:endParaRPr sz="900"/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정상 episode</a:t>
            </a:r>
            <a:endParaRPr sz="9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3C4BB82-0C58-4D0A-8F0C-005F3EC3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2999232"/>
            <a:ext cx="0" cy="9601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F24506-1460-4980-81B8-1E6C6AFD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2926080"/>
            <a:ext cx="1600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546</a:t>
            </a:r>
            <a:endParaRPr sz="3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283BA84-173A-42E2-8052-27E83028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34290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Frames</a:t>
            </a:r>
            <a:endParaRPr sz="11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6C7DF35-D962-44AB-833A-488AECD4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3657600"/>
            <a:ext cx="1600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episode당 평균</a:t>
            </a:r>
            <a:endParaRPr sz="900"/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546 frames</a:t>
            </a:r>
            <a:endParaRPr sz="9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61B1648-DB0A-448A-907B-E4F3F4B6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2999232"/>
            <a:ext cx="0" cy="9601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63E4747-898C-41FB-8C6E-C3C1C84A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2926080"/>
            <a:ext cx="1600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30</a:t>
            </a:r>
            <a:endParaRPr sz="3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2AABEA7-CFC0-4AE5-9B27-B842007A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34290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FPS</a:t>
            </a:r>
            <a:endParaRPr sz="11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C5A3391-9273-4800-AA23-F34ADCEE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3657600"/>
            <a:ext cx="1600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state·action·영상</a:t>
            </a:r>
            <a:endParaRPr sz="900"/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동기 기록</a:t>
            </a:r>
            <a:endParaRPr sz="900"/>
          </a:p>
        </p:txBody>
      </p:sp>
      <p:pic>
        <p:nvPicPr>
          <p:cNvPr id="7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62ed3c0124a86"/>
          <a:srcRect xmlns:a="http://schemas.openxmlformats.org/drawingml/2006/main" l="6329" t="0" r="63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34072" y="548640"/>
            <a:ext cx="4206240" cy="3611880"/>
          </a:xfrm>
          <a:prstGeom xmlns:a="http://schemas.openxmlformats.org/drawingml/2006/main" prst="roundRect">
            <a:avLst>
              <a:gd name="adj" fmla="val 2637"/>
            </a:avLst>
          </a:prstGeom>
        </p:spPr>
      </p:pic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0FC2B81-1E42-48F6-8EE3-ECF02C3B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776472"/>
            <a:ext cx="3429000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FFCC946F-CD3D-4680-B1B6-B5CCE232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776472"/>
            <a:ext cx="3429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실제 장비 · Follower(앞) + Leader(뒤) · HOME 자세</a:t>
            </a:r>
            <a:endParaRPr sz="85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DD69FCB-26F5-4A0D-9F6A-3CEAF7A1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0"/>
            <a:ext cx="11091672" cy="1901952"/>
          </a:xfrm>
          <a:prstGeom xmlns:a="http://schemas.openxmlformats.org/drawingml/2006/main" prst="roundRect">
            <a:avLst>
              <a:gd name="adj" fmla="val 6731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F5F5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EA59AD5C-0721-45BD-BD39-109C6F97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90288"/>
            <a:ext cx="1097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1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PIPELINE</a:t>
            </a:r>
            <a:endParaRPr sz="95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6AB4197-09BA-4AEE-9134-ACEE966C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566" y="4562856"/>
            <a:ext cx="1143000" cy="2377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12700">
            <a:solidFill>
              <a:srgbClr val="E8F1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8B2489F-6D9D-43F3-B106-5B9A4644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566" y="4562856"/>
            <a:ext cx="1143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1–3  검증 완료</a:t>
            </a:r>
            <a:endParaRPr sz="8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3CE779B-648B-4CE0-BE94-02E48F19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8779" y="4562856"/>
            <a:ext cx="1143000" cy="2377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E5AD31D1-774B-41A1-8EA4-CC8DD57D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8779" y="4562856"/>
            <a:ext cx="1143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4–5  다음 단계</a:t>
            </a:r>
            <a:endParaRPr sz="85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10B9A716-2545-4A89-A75C-70478B5F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5193792"/>
            <a:ext cx="16331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D076FAB-0B0B-42D8-AF25-7A56228A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29200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1587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E36E24C8-24F3-4D0D-8525-64FF8137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29200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11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8546B0ED-09AE-4A99-9981-B35BB7A1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13832"/>
            <a:ext cx="192572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Teleoperation</a:t>
            </a:r>
            <a:endParaRPr sz="13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386044DD-0965-4945-86FE-589EAF03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797296"/>
            <a:ext cx="192572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Leader로 로봇을 직접 조작</a:t>
            </a:r>
            <a:endParaRPr sz="105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70A441A0-9D39-4852-8C06-A727FE38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902" y="5193792"/>
            <a:ext cx="16331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3ED71549-B077-4108-80C1-0C7A11FB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566" y="5029200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1587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6856BFE6-6CFF-4561-9FA2-AA8F0D39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566" y="5029200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10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1D4B84AD-9B47-4D01-86A0-8B4E787D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566" y="5513832"/>
            <a:ext cx="192572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Episode Collection</a:t>
            </a:r>
            <a:endParaRPr sz="1300"/>
          </a:p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0A1E9B98-4378-4571-89B8-B71B9267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566" y="5797296"/>
            <a:ext cx="192572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상태·동작·영상을 동시 기록</a:t>
            </a:r>
            <a:endParaRPr sz="1050"/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6EA410B3-2BE0-4D54-B460-7D98BE02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509" y="5193792"/>
            <a:ext cx="16331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C8498985-86D2-4E4D-BC54-AD515E64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173" y="5029200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1587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C7C0668B-1455-4AE1-91E1-60BBEA0E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173" y="5029200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100"/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0FCB00B6-F5C0-49CB-A2AA-503977AD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173" y="5513832"/>
            <a:ext cx="192572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LeRobotDataset</a:t>
            </a:r>
            <a:endParaRPr sz="13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C6F4A7FA-925E-477B-9228-049B1EF2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173" y="5797296"/>
            <a:ext cx="192572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정해진 구조로 데이터 저장</a:t>
            </a:r>
            <a:endParaRPr sz="1050"/>
          </a:p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8369C842-27BB-48F8-B0D3-9E8536AB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1115" y="5193792"/>
            <a:ext cx="16331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4828C29B-AAC2-4AC9-9F55-E8A35316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8779" y="5029200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CAE80E45-1849-49C8-B3D1-65846938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8779" y="5029200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4</a:t>
            </a:r>
            <a:endParaRPr sz="1100"/>
          </a:p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6C41F643-D709-493C-9F72-B23E0A50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8779" y="5513832"/>
            <a:ext cx="192572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Large-scale Dataset</a:t>
            </a:r>
            <a:endParaRPr sz="1300"/>
          </a:p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5316CAC0-D104-478F-AE80-6D5F9C4A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8779" y="5797296"/>
            <a:ext cx="192572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같은 조건으로 반복 수집</a:t>
            </a:r>
            <a:endParaRPr sz="1050"/>
          </a:p>
        </p:txBody>
      </p:sp>
      <p:sp>
        <p:nvSpPr>
          <p:cNvPr id="51" name="Shape 48">
            <a:extLst xmlns:a="http://schemas.openxmlformats.org/drawingml/2006/main">
              <a:ext uri="{FF2B5EF4-FFF2-40B4-BE49-F238E27FC236}">
                <a16:creationId xmlns:a16="http://schemas.microsoft.com/office/drawing/2014/main" id="{AB1C5003-5A57-4AAE-A0FC-EB6DD46D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7386" y="5029200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078C172D-6112-4A47-B8D8-26472992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7386" y="5029200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5</a:t>
            </a:r>
            <a:endParaRPr sz="1100"/>
          </a:p>
        </p:txBody>
      </p:sp>
      <p:sp>
        <p:nvSpPr>
          <p:cNvPr id="53" name="Text 50">
            <a:extLst xmlns:a="http://schemas.openxmlformats.org/drawingml/2006/main">
              <a:ext uri="{FF2B5EF4-FFF2-40B4-BE49-F238E27FC236}">
                <a16:creationId xmlns:a16="http://schemas.microsoft.com/office/drawing/2014/main" id="{499774FE-D46A-41E5-B060-32369DA4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7386" y="5513832"/>
            <a:ext cx="192572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Training</a:t>
            </a:r>
            <a:endParaRPr sz="1300"/>
          </a:p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B4178423-E03D-4F42-9AA6-9CFFB512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7386" y="5797296"/>
            <a:ext cx="192572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ACT baseline · SmolVLA 학습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20389209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6B34F19-73C3-4D23-919D-7154A9D8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50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COLLECTION SETUP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BFF28A8-3676-45B0-AF35-FB158B8A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수집 환경과 자동 Episode 수집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6ED2981-296F-4675-9A5B-D0379C1A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70432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SO-101 Leader로 조작하고, Follower 상태와 TOP RGB-D · SIDE RGB 영상을 30 FPS로 동기 기록</a:t>
            </a:r>
            <a:endParaRPr sz="13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9B2902F-45B0-4E2E-843C-6F1067F0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4572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6868B"/>
                </a:solidFill>
                <a:latin typeface="Malgun Gothic"/>
                <a:ea typeface="Malgun Gothic"/>
                <a:cs typeface="Malgun Gothic"/>
              </a:rPr>
              <a:t>SO-101 · LeRobot Dataset Collection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347358A-A9AC-4ECE-84DD-C0C5A718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512" y="647395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86868B"/>
                </a:solidFill>
                <a:latin typeface="Malgun Gothic"/>
                <a:ea typeface="Malgun Gothic"/>
                <a:cs typeface="Malgun Gothic"/>
              </a:rPr>
              <a:t>02 / 07</a:t>
            </a:r>
            <a:endParaRPr sz="850"/>
          </a:p>
        </p:txBody>
      </p:sp>
      <p:pic>
        <p:nvPicPr>
          <p:cNvPr id="6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2fa67d7b348f1"/>
          <a:srcRect xmlns:a="http://schemas.openxmlformats.org/drawingml/2006/main" l="19116" t="0" r="191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664208"/>
            <a:ext cx="2990850" cy="3631597"/>
          </a:xfrm>
          <a:prstGeom xmlns:a="http://schemas.openxmlformats.org/drawingml/2006/main" prst="roundRect">
            <a:avLst>
              <a:gd name="adj" fmla="val 3185"/>
            </a:avLst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E89BB3D-0BD5-43C1-8187-926C0981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82496"/>
            <a:ext cx="6172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SO-101 Auto Home Recording</a:t>
            </a:r>
            <a:endParaRPr sz="7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D47555E9-A23B-4004-9F8F-FCA5ACF6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6816"/>
            <a:ext cx="2011680" cy="2468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05FE65E-3166-47AB-A773-24140B35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6816"/>
            <a:ext cx="201168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TOP VIEW · RealSense D405</a:t>
            </a:r>
            <a:endParaRPr sz="8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DF44C93-5878-403D-9518-EF1D76C1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56816"/>
            <a:ext cx="1600200" cy="2468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9557C48-5F89-487E-98D5-D0135838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56816"/>
            <a:ext cx="16002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SIDE VIEW · Webcam</a:t>
            </a:r>
            <a:endParaRPr sz="8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829AC568-D666-437B-B9E0-59776A8C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930040"/>
            <a:ext cx="2240280" cy="2468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D908DA0-31EA-4275-85DA-1A8F4892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930040"/>
            <a:ext cx="224028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HOME 오차 · 안정 시간 → 자동 판정</a:t>
            </a:r>
            <a:endParaRPr sz="85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36D2B1B-FA2B-4AE6-B2FC-B78F1C82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68112"/>
            <a:ext cx="290322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TOP · 작업 공간 전체 + depth</a:t>
            </a:r>
            <a:endParaRPr sz="11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68E2223-FBDF-4480-A04F-5AF8BE47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24144"/>
            <a:ext cx="290322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물체 시작 위치 · 이동 경로 · 거리 정보</a:t>
            </a:r>
            <a:endParaRPr sz="10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C647F27-E6DB-4638-ABD8-E6AB15F1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740" y="5468112"/>
            <a:ext cx="290322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SIDE · 그리퍼와 물체</a:t>
            </a:r>
            <a:endParaRPr sz="11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E29CCBE-70FB-4E9D-A7D3-428FD574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740" y="5724144"/>
            <a:ext cx="290322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파지 상태 · 목표 영역 안착 · 가림 확인</a:t>
            </a:r>
            <a:endParaRPr sz="10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B4EE676-EB5D-4762-9EAD-A44F3F52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35040"/>
            <a:ext cx="617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86868B"/>
                </a:solidFill>
                <a:latin typeface="Malgun Gothic"/>
                <a:ea typeface="Malgun Gothic"/>
                <a:cs typeface="Malgun Gothic"/>
              </a:rPr>
              <a:t>640 × 480 · 30 FPS · TOP RGB-D + SIDE RGB · state / action 각 6 joints</a:t>
            </a:r>
            <a:endParaRPr sz="95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095B6EF-C1E8-4B38-BC33-B1E40F9B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664208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자동 수집 루프</a:t>
            </a:r>
            <a:endParaRPr sz="13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47C7A6F-BBDE-4913-94A2-8DE9D0AB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00784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키 입력 없이 HOME 조건으로 시작·종료</a:t>
            </a:r>
            <a:endParaRPr sz="95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3B08C7E-E2CF-4EE2-90F6-950C8BF2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221992"/>
            <a:ext cx="0" cy="24963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1110FB68-928B-473F-8CE7-AB088F9D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084832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B9FA817E-350F-424F-8A9E-23F89DED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084832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9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6CE609A-8CFF-4605-9761-6BD61FF4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57400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HOME</a:t>
            </a:r>
            <a:endParaRPr sz="11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ED2CF27C-7617-42D0-8D0E-1DC62FE8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58568"/>
            <a:ext cx="3017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모든 episode를 같은 자세에서 시작</a:t>
            </a:r>
            <a:endParaRPr sz="95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4C57CAF-903D-4753-B508-6D840924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500884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223CED04-C4DC-4271-9595-8690A882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500884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9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32650224-7EDD-44D4-AB49-46D85FC0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73452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RECORD START</a:t>
            </a:r>
            <a:endParaRPr sz="11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EE54A47-9FCC-4224-B04E-D7D5F381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74620"/>
            <a:ext cx="3017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HOME 확인 후 화면에 START 표시 · 기록 시작</a:t>
            </a:r>
            <a:endParaRPr sz="95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66A1E06-FCDE-453C-BD7A-8E0C4333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916936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17F7853-7F97-489A-928E-7EBB805E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916936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90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38F36E2-A785-44A0-A6DA-0E210113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89504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Teleoperation</a:t>
            </a:r>
            <a:endParaRPr sz="11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71E7B63D-73F2-4FED-8BCA-4F07E68B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90672"/>
            <a:ext cx="3017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state · action · TOP · SIDE · depth 동시 기록</a:t>
            </a:r>
            <a:endParaRPr sz="9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71DCFAA0-BF2A-4A68-8AB5-E1F87032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332988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97C0ABAE-2206-411A-89F2-3E7C05DA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332988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4</a:t>
            </a:r>
            <a:endParaRPr sz="90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12F109BF-BEFE-4B69-A263-4D5F539B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05556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Task completed</a:t>
            </a:r>
            <a:endParaRPr sz="11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6C06AF81-A7BC-4AE2-886D-3C556056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06724"/>
            <a:ext cx="3017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물체가 목표 위치에 놓임 — 아직 저장 X</a:t>
            </a:r>
            <a:endParaRPr sz="95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DFD568EF-C2A6-49FE-BC58-294C01BF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7490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5494C64E-C3DF-439C-8C16-26D11FC3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7490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5</a:t>
            </a:r>
            <a:endParaRPr sz="900"/>
          </a:p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C40822A7-E0B9-4632-978F-8261BF7F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2160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Return to HOME</a:t>
            </a:r>
            <a:endParaRPr sz="1100"/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85C20B8E-E62A-4569-A841-28DC0C78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22776"/>
            <a:ext cx="3017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작업 후 같은 HOME 자세로 복귀</a:t>
            </a:r>
            <a:endParaRPr sz="950"/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7E966AD3-EF64-4206-BC78-1D60516A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165092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E8402D06-1622-430A-96E2-3437A7EF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165092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6</a:t>
            </a:r>
            <a:endParaRPr sz="9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E432009C-CC6A-4FC1-A73B-85494BAF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37660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HOME stable 2 s</a:t>
            </a:r>
            <a:endParaRPr sz="110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C3C1C295-0904-458A-826B-C169C46B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38828"/>
            <a:ext cx="3017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HOME 자세가 2초 유지되면 종료 판정</a:t>
            </a:r>
            <a:endParaRPr sz="950"/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5FE068CD-C54B-4D53-A27C-89433182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81144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1587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E91C42F2-08D4-4CBF-B760-52832A31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581144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  <a:endParaRPr sz="900"/>
          </a:p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F2667647-998B-4D5F-9D82-1F5F1003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53712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SAVE</a:t>
            </a:r>
            <a:endParaRPr sz="1100"/>
          </a:p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FABABE0E-7E2E-432A-A9E9-C818E7E7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54880"/>
            <a:ext cx="3017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정상 episode 자동 저장</a:t>
            </a:r>
            <a:endParaRPr sz="950"/>
          </a:p>
        </p:txBody>
      </p:sp>
      <p:sp>
        <p:nvSpPr>
          <p:cNvPr id="51" name="Shape 48">
            <a:extLst xmlns:a="http://schemas.openxmlformats.org/drawingml/2006/main">
              <a:ext uri="{FF2B5EF4-FFF2-40B4-BE49-F238E27FC236}">
                <a16:creationId xmlns:a16="http://schemas.microsoft.com/office/drawing/2014/main" id="{B73927DB-14EF-4DF5-8492-FD797D73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767328"/>
            <a:ext cx="2176272" cy="2377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FE6"/>
          </a:solidFill>
          <a:ln xmlns:a="http://schemas.openxmlformats.org/drawingml/2006/main" w="12700">
            <a:solidFill>
              <a:srgbClr val="FCEF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AC58DCF8-CCBD-4633-967E-E05648E0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767328"/>
            <a:ext cx="217627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C4520F"/>
                </a:solidFill>
                <a:latin typeface="Malgun Gothic"/>
                <a:ea typeface="Malgun Gothic"/>
                <a:cs typeface="Malgun Gothic"/>
              </a:rPr>
              <a:t>단점 · 복귀 동작도 함께 학습될 수 있음</a:t>
            </a:r>
            <a:endParaRPr sz="850"/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74FFD0F3-6F8D-4F71-8B59-715028C2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2103120"/>
            <a:ext cx="1261872" cy="2377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12700">
            <a:solidFill>
              <a:srgbClr val="E8F1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53DD5898-9FA2-40B3-87C6-93D51732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2103120"/>
            <a:ext cx="126187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시작 = 종료 자세</a:t>
            </a:r>
            <a:endParaRPr sz="850"/>
          </a:p>
        </p:txBody>
      </p:sp>
      <p:sp>
        <p:nvSpPr>
          <p:cNvPr id="55" name="Shape 52">
            <a:extLst xmlns:a="http://schemas.openxmlformats.org/drawingml/2006/main">
              <a:ext uri="{FF2B5EF4-FFF2-40B4-BE49-F238E27FC236}">
                <a16:creationId xmlns:a16="http://schemas.microsoft.com/office/drawing/2014/main" id="{0452D53B-FFFC-4E09-86DD-0979B6BC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5074920"/>
            <a:ext cx="2162556" cy="1216152"/>
          </a:xfrm>
          <a:prstGeom xmlns:a="http://schemas.openxmlformats.org/drawingml/2006/main" prst="roundRect">
            <a:avLst>
              <a:gd name="adj" fmla="val 9023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F5F5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Text 53">
            <a:extLst xmlns:a="http://schemas.openxmlformats.org/drawingml/2006/main">
              <a:ext uri="{FF2B5EF4-FFF2-40B4-BE49-F238E27FC236}">
                <a16:creationId xmlns:a16="http://schemas.microsoft.com/office/drawing/2014/main" id="{D23F1E7C-A1FE-40EF-8951-47EA604A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912" y="5212080"/>
            <a:ext cx="188823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PREP 5 s</a:t>
            </a:r>
            <a:endParaRPr sz="1150"/>
          </a:p>
        </p:txBody>
      </p:sp>
      <p:sp>
        <p:nvSpPr>
          <p:cNvPr id="57" name="Text 54">
            <a:extLst xmlns:a="http://schemas.openxmlformats.org/drawingml/2006/main">
              <a:ext uri="{FF2B5EF4-FFF2-40B4-BE49-F238E27FC236}">
                <a16:creationId xmlns:a16="http://schemas.microsoft.com/office/drawing/2014/main" id="{4AB117C4-27BB-469C-B5ED-33A8D25A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912" y="5486400"/>
            <a:ext cx="1888236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9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다음 시작 위치에 물체 배치</a:t>
            </a:r>
            <a:endParaRPr sz="950"/>
          </a:p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9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이 시간은 녹화하지 않음</a:t>
            </a:r>
            <a:endParaRPr sz="950"/>
          </a:p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9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→ 다시 ① HOME</a:t>
            </a:r>
            <a:endParaRPr sz="950"/>
          </a:p>
        </p:txBody>
      </p:sp>
      <p:sp>
        <p:nvSpPr>
          <p:cNvPr id="58" name="Shape 55">
            <a:extLst xmlns:a="http://schemas.openxmlformats.org/drawingml/2006/main">
              <a:ext uri="{FF2B5EF4-FFF2-40B4-BE49-F238E27FC236}">
                <a16:creationId xmlns:a16="http://schemas.microsoft.com/office/drawing/2014/main" id="{B7E36FF9-895E-4A9B-814A-27E5606D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756" y="5074920"/>
            <a:ext cx="2162556" cy="1216152"/>
          </a:xfrm>
          <a:prstGeom xmlns:a="http://schemas.openxmlformats.org/drawingml/2006/main" prst="roundRect">
            <a:avLst>
              <a:gd name="adj" fmla="val 9023"/>
            </a:avLst>
          </a:prstGeom>
          <a:solidFill xmlns:a="http://schemas.openxmlformats.org/drawingml/2006/main">
            <a:srgbClr val="FCEFE6"/>
          </a:solidFill>
          <a:ln xmlns:a="http://schemas.openxmlformats.org/drawingml/2006/main" w="12700">
            <a:solidFill>
              <a:srgbClr val="FCEF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Text 56">
            <a:extLst xmlns:a="http://schemas.openxmlformats.org/drawingml/2006/main">
              <a:ext uri="{FF2B5EF4-FFF2-40B4-BE49-F238E27FC236}">
                <a16:creationId xmlns:a16="http://schemas.microsoft.com/office/drawing/2014/main" id="{63DFBDCF-D872-435C-A236-486F6378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348" y="5212080"/>
            <a:ext cx="188823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C4520F"/>
                </a:solidFill>
                <a:latin typeface="Malgun Gothic"/>
                <a:ea typeface="Malgun Gothic"/>
                <a:cs typeface="Malgun Gothic"/>
              </a:rPr>
              <a:t>수동 </a:t>
            </a:r>
            <a:r>
              <a:rPr sz="1150" b="1">
                <a:solidFill>
                  <a:srgbClr val="C4520F"/>
                </a:solidFill>
                <a:latin typeface="Malgun Gothic"/>
                <a:ea typeface="Malgun Gothic"/>
                <a:cs typeface="Malgun Gothic"/>
              </a:rPr>
              <a:t>F · 즉시 폐기</a:t>
            </a:r>
            <a:endParaRPr sz="1150"/>
          </a:p>
        </p:txBody>
      </p:sp>
      <p:sp>
        <p:nvSpPr>
          <p:cNvPr id="60" name="Text 57">
            <a:extLst xmlns:a="http://schemas.openxmlformats.org/drawingml/2006/main">
              <a:ext uri="{FF2B5EF4-FFF2-40B4-BE49-F238E27FC236}">
                <a16:creationId xmlns:a16="http://schemas.microsoft.com/office/drawing/2014/main" id="{9F145903-031F-4258-A2EB-73B51D6A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348" y="5486400"/>
            <a:ext cx="186080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95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물체 놓침 · 목표 위치 실패</a:t>
            </a:r>
            <a:endParaRPr sz="950"/>
          </a:p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95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등 과정이나</a:t>
            </a:r>
            <a:r>
              <a:rPr sz="95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 판정이 잘못된 경우</a:t>
            </a:r>
            <a:endParaRPr sz="950"/>
          </a:p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95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95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관찰자 판단으로 </a:t>
            </a:r>
            <a:r>
              <a:rPr sz="95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저장</a:t>
            </a:r>
            <a:r>
              <a:rPr sz="95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 없이 같은 episode 재수집</a:t>
            </a:r>
            <a:endParaRPr sz="950"/>
          </a:p>
        </p:txBody>
      </p:sp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674cc24e154421"/>
          <a:srcRect xmlns:a="http://schemas.openxmlformats.org/drawingml/2006/main" l="19116" t="0" r="191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29990" y="1664208"/>
            <a:ext cx="2990850" cy="3631597"/>
          </a:xfrm>
          <a:prstGeom xmlns:a="http://schemas.openxmlformats.org/drawingml/2006/main" prst="roundRect">
            <a:avLst>
              <a:gd name="adj" fmla="val 3185"/>
            </a:avLst>
          </a:prstGeom>
        </p:spPr>
      </p:pic>
    </p:spTree>
    <p:extLst>
      <p:ext uri="{BB962C8B-B14F-4D97-AF65-F5344CB8AC3E}">
        <p14:creationId xmlns:p14="http://schemas.microsoft.com/office/powerpoint/2010/main" val="1000343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44F633-68EC-455E-B6BD-FF62BCE0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50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DATA STRUCTURE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D690E4F-AF74-4567-882B-85DDDB32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한 시점의 기록이 하나의 데이터셋으로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34086CB-166C-4FC6-B51F-5107A5B3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70432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RGB 2개 스트림과 D405 depth, state/action을 동일한 frame index로 저장</a:t>
            </a:r>
            <a:endParaRPr sz="13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A6C92B6-4117-4B8A-AAEA-974DC266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4572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6868B"/>
                </a:solidFill>
                <a:latin typeface="Malgun Gothic"/>
                <a:ea typeface="Malgun Gothic"/>
                <a:cs typeface="Malgun Gothic"/>
              </a:rPr>
              <a:t>SO-101 · LeRobot Dataset Collection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7DFB107-61B7-4173-830D-5726CBF1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512" y="647395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86868B"/>
                </a:solidFill>
                <a:latin typeface="Malgun Gothic"/>
                <a:ea typeface="Malgun Gothic"/>
                <a:cs typeface="Malgun Gothic"/>
              </a:rPr>
              <a:t>03 / 07</a:t>
            </a:r>
            <a:endParaRPr sz="8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7838B00-A780-467B-9773-553FAB0C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5257800" cy="4645152"/>
          </a:xfrm>
          <a:prstGeom xmlns:a="http://schemas.openxmlformats.org/drawingml/2006/main" prst="roundRect">
            <a:avLst>
              <a:gd name="adj" fmla="val 2756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F5F5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C692229-FADB-437D-ACBC-267D9970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TIMESTEP t 에 함께 저장되는 것</a:t>
            </a:r>
            <a:endParaRPr sz="1100"/>
          </a:p>
        </p:txBody>
      </p:sp>
      <p:pic>
        <p:nvPicPr>
          <p:cNvPr id="1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06f5a7da8e4a01"/>
          <a:srcRect xmlns:a="http://schemas.openxmlformats.org/drawingml/2006/main" l="0" t="130" r="0" b="1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103120"/>
            <a:ext cx="2304288" cy="1723739"/>
          </a:xfrm>
          <a:prstGeom xmlns:a="http://schemas.openxmlformats.org/drawingml/2006/main" prst="roundRect">
            <a:avLst>
              <a:gd name="adj" fmla="val 5526"/>
            </a:avLst>
          </a:prstGeom>
        </p:spPr>
      </p:pic>
      <p:pic>
        <p:nvPicPr>
          <p:cNvPr id="11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c2599d059d4685"/>
          <a:srcRect xmlns:a="http://schemas.openxmlformats.org/drawingml/2006/main" l="0" t="130" r="0" b="1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73552" y="2103120"/>
            <a:ext cx="2304288" cy="1723739"/>
          </a:xfrm>
          <a:prstGeom xmlns:a="http://schemas.openxmlformats.org/drawingml/2006/main" prst="roundRect">
            <a:avLst>
              <a:gd name="adj" fmla="val 5526"/>
            </a:avLst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699C2C3D-691A-40B1-8123-563E9BDE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99987"/>
            <a:ext cx="23042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D1D1F"/>
                </a:solidFill>
                <a:latin typeface="Consolas"/>
                <a:ea typeface="Consolas"/>
                <a:cs typeface="Consolas"/>
              </a:rPr>
              <a:t>observation.images.top + top_depth</a:t>
            </a:r>
            <a:endParaRPr sz="9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00D69253-8010-40F1-98BB-625C96E9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92011"/>
            <a:ext cx="23042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D405 · RGB + depth(mm) · 640 × 480</a:t>
            </a:r>
            <a:endParaRPr sz="85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E33D5CD-584D-4BA5-B183-B5D26361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3899987"/>
            <a:ext cx="23042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D1D1F"/>
                </a:solidFill>
                <a:latin typeface="Consolas"/>
                <a:ea typeface="Consolas"/>
                <a:cs typeface="Consolas"/>
              </a:rPr>
              <a:t>observation.images.side</a:t>
            </a:r>
            <a:endParaRPr sz="9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42F18A5E-7F6B-4621-9510-546DFD2F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4092011"/>
            <a:ext cx="23042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Webcam · RGB · 640 × 480</a:t>
            </a:r>
            <a:endParaRPr sz="85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6322EB0B-5B91-4563-9318-C8D8A15E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384" y="4329755"/>
            <a:ext cx="0" cy="616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356F47-9431-4FF7-82AC-BEA0123D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384" y="4892040"/>
            <a:ext cx="0" cy="109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27B906DB-5E14-48B7-AF58-559F63B7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696" y="4329755"/>
            <a:ext cx="0" cy="616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A9C57535-16DE-4A73-BC01-AEF22622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696" y="4892040"/>
            <a:ext cx="0" cy="109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7833473-0814-4FD6-BAF7-0AE0A0EA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384" y="4391442"/>
            <a:ext cx="24963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F8BF0D6-2399-4DB1-B6DB-24ABBA48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384" y="4892040"/>
            <a:ext cx="24963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EC776178-68F9-476E-BB6E-32F449FE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540" y="4391442"/>
            <a:ext cx="0" cy="616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46EE0D6C-B5EF-40C0-93A8-977EE5EF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540" y="4782312"/>
            <a:ext cx="0" cy="109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D8117AED-1AAF-47D2-97B5-AC7F855E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53128"/>
            <a:ext cx="1554480" cy="3291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2BC4AB3D-0AEA-451F-9CE9-32EE24FC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53128"/>
            <a:ext cx="15544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TIMESTEP  t</a:t>
            </a:r>
            <a:endParaRPr sz="1150"/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16F516C1-ECB5-42B7-8769-7D16DA95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01768"/>
            <a:ext cx="2304288" cy="621792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673E9E23-8A76-46B7-943B-186EAFF8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3208"/>
            <a:ext cx="20299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66CC"/>
                </a:solidFill>
                <a:latin typeface="Consolas"/>
                <a:ea typeface="Consolas"/>
                <a:cs typeface="Consolas"/>
              </a:rPr>
              <a:t>observation.state</a:t>
            </a:r>
            <a:endParaRPr sz="10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A92730A-4858-44D7-A370-A29019C6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0952"/>
            <a:ext cx="21214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현재 관절 상태 6개 · float × 6</a:t>
            </a:r>
            <a:endParaRPr sz="90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C9A86409-245A-4C14-AAFD-10CF69CB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5001768"/>
            <a:ext cx="2304288" cy="621792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76B25263-ACFC-49E8-BF35-826491E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5093208"/>
            <a:ext cx="20299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66CC"/>
                </a:solidFill>
                <a:latin typeface="Consolas"/>
                <a:ea typeface="Consolas"/>
                <a:cs typeface="Consolas"/>
              </a:rPr>
              <a:t>action</a:t>
            </a:r>
            <a:endParaRPr sz="10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8A278E0A-8213-448B-8BFF-D547E6EC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5330952"/>
            <a:ext cx="212140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Leader 목표 관절 값 6개 · float × 6</a:t>
            </a:r>
            <a:endParaRPr sz="900"/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73DFDEF4-6B92-4A41-B810-C63EE19A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715000"/>
            <a:ext cx="762000" cy="21945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F3FF472D-B799-4A79-B4CE-0ACFE016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715000"/>
            <a:ext cx="76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1D1D1F"/>
                </a:solidFill>
                <a:latin typeface="Consolas"/>
                <a:ea typeface="Consolas"/>
                <a:cs typeface="Consolas"/>
              </a:rPr>
              <a:t>shoulder_pan</a:t>
            </a:r>
            <a:endParaRPr sz="750"/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F75B72F0-B407-4524-8626-73FFCF60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960" y="5715000"/>
            <a:ext cx="762000" cy="21945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52AC55DA-EE93-499F-BD87-7E9FAE74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960" y="5715000"/>
            <a:ext cx="76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1D1D1F"/>
                </a:solidFill>
                <a:latin typeface="Consolas"/>
                <a:ea typeface="Consolas"/>
                <a:cs typeface="Consolas"/>
              </a:rPr>
              <a:t>shoulder_lift</a:t>
            </a:r>
            <a:endParaRPr sz="750"/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902218FA-73B2-4E1C-86EF-2448932E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2680" y="5715000"/>
            <a:ext cx="762000" cy="21945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3769DC48-008B-4BBA-AE1F-5032C686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2680" y="5715000"/>
            <a:ext cx="76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1D1D1F"/>
                </a:solidFill>
                <a:latin typeface="Consolas"/>
                <a:ea typeface="Consolas"/>
                <a:cs typeface="Consolas"/>
              </a:rPr>
              <a:t>elbow_flex</a:t>
            </a:r>
            <a:endParaRPr sz="750"/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40C9AEBD-5807-4697-B1D4-D22EE3DA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15000"/>
            <a:ext cx="762000" cy="21945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8AD28D66-D0B1-457E-86AD-56643C03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15000"/>
            <a:ext cx="76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1D1D1F"/>
                </a:solidFill>
                <a:latin typeface="Consolas"/>
                <a:ea typeface="Consolas"/>
                <a:cs typeface="Consolas"/>
              </a:rPr>
              <a:t>wrist_flex</a:t>
            </a:r>
            <a:endParaRPr sz="750"/>
          </a:p>
        </p:txBody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DE14DB0A-BEE9-4AD6-BD71-66499FCC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120" y="5715000"/>
            <a:ext cx="762000" cy="21945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C4BE4D33-F517-4446-B5DE-9975C645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120" y="5715000"/>
            <a:ext cx="76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1D1D1F"/>
                </a:solidFill>
                <a:latin typeface="Consolas"/>
                <a:ea typeface="Consolas"/>
                <a:cs typeface="Consolas"/>
              </a:rPr>
              <a:t>wrist_roll</a:t>
            </a:r>
            <a:endParaRPr sz="750"/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1A768C0C-5972-41BB-BD22-A983FB95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840" y="5715000"/>
            <a:ext cx="762000" cy="21945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5AF30DEA-15BF-416D-AC9C-DC1E6F6F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840" y="5715000"/>
            <a:ext cx="76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1D1D1F"/>
                </a:solidFill>
                <a:latin typeface="Consolas"/>
                <a:ea typeface="Consolas"/>
                <a:cs typeface="Consolas"/>
              </a:rPr>
              <a:t>gripper</a:t>
            </a:r>
            <a:endParaRPr sz="75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F74D400B-5721-45B1-B8E3-2FA8FF13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998464"/>
            <a:ext cx="4800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850">
                <a:solidFill>
                  <a:srgbClr val="6E6E73"/>
                </a:solidFill>
                <a:latin typeface="Consolas"/>
                <a:ea typeface="Consolas"/>
                <a:cs typeface="Consolas"/>
              </a:rPr>
              <a:t>timestamp · frame_index · episode_index · task_index</a:t>
            </a:r>
            <a:r>
              <a:rPr sz="8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  함께 저장</a:t>
            </a:r>
            <a:endParaRPr sz="850"/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A3540A0C-F4C2-4098-9034-B776C1BA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6459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LeRobotDataset 저장 구조</a:t>
            </a:r>
            <a:endParaRPr sz="1300"/>
          </a:p>
        </p:txBody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6821EE26-68C1-48EB-8843-AE0E3776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169164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E6E73"/>
                </a:solidFill>
                <a:latin typeface="Consolas"/>
                <a:ea typeface="Consolas"/>
                <a:cs typeface="Consolas"/>
              </a:rPr>
              <a:t>auto_home_dataset/</a:t>
            </a:r>
            <a:endParaRPr sz="950"/>
          </a:p>
        </p:txBody>
      </p:sp>
      <p:pic>
        <p:nvPicPr>
          <p:cNvPr id="15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ce6b2849f4f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80760" y="2057400"/>
            <a:ext cx="1828800" cy="2517820"/>
          </a:xfrm>
          <a:prstGeom xmlns:a="http://schemas.openxmlformats.org/drawingml/2006/main" prst="rect">
            <a:avLst/>
          </a:prstGeom>
        </p:spPr>
      </p:pic>
      <p:sp>
        <p:nvSpPr>
          <p:cNvPr id="47" name="Shape 42">
            <a:extLst xmlns:a="http://schemas.openxmlformats.org/drawingml/2006/main">
              <a:ext uri="{FF2B5EF4-FFF2-40B4-BE49-F238E27FC236}">
                <a16:creationId xmlns:a16="http://schemas.microsoft.com/office/drawing/2014/main" id="{CE55BDDF-3552-41AE-9348-D767B9DB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4924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1587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Text 43">
            <a:extLst xmlns:a="http://schemas.openxmlformats.org/drawingml/2006/main">
              <a:ext uri="{FF2B5EF4-FFF2-40B4-BE49-F238E27FC236}">
                <a16:creationId xmlns:a16="http://schemas.microsoft.com/office/drawing/2014/main" id="{08A0ACC8-029C-4AAD-BA66-550720EF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49244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850"/>
          </a:p>
        </p:txBody>
      </p:sp>
      <p:sp>
        <p:nvSpPr>
          <p:cNvPr id="49" name="Shape 44">
            <a:extLst xmlns:a="http://schemas.openxmlformats.org/drawingml/2006/main">
              <a:ext uri="{FF2B5EF4-FFF2-40B4-BE49-F238E27FC236}">
                <a16:creationId xmlns:a16="http://schemas.microsoft.com/office/drawing/2014/main" id="{5505E594-996C-4B61-A1CB-4A0D0575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6080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1587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Text 45">
            <a:extLst xmlns:a="http://schemas.openxmlformats.org/drawingml/2006/main">
              <a:ext uri="{FF2B5EF4-FFF2-40B4-BE49-F238E27FC236}">
                <a16:creationId xmlns:a16="http://schemas.microsoft.com/office/drawing/2014/main" id="{187A15A8-7275-4321-8827-1E84FB36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60802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850"/>
          </a:p>
        </p:txBody>
      </p:sp>
      <p:sp>
        <p:nvSpPr>
          <p:cNvPr id="51" name="Shape 46">
            <a:extLst xmlns:a="http://schemas.openxmlformats.org/drawingml/2006/main">
              <a:ext uri="{FF2B5EF4-FFF2-40B4-BE49-F238E27FC236}">
                <a16:creationId xmlns:a16="http://schemas.microsoft.com/office/drawing/2014/main" id="{D2D08F70-1A15-481B-A2E0-0C4D3A6D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0758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1587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Text 47">
            <a:extLst xmlns:a="http://schemas.openxmlformats.org/drawingml/2006/main">
              <a:ext uri="{FF2B5EF4-FFF2-40B4-BE49-F238E27FC236}">
                <a16:creationId xmlns:a16="http://schemas.microsoft.com/office/drawing/2014/main" id="{09B58E9F-00F2-469C-900D-A5121D61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07588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850"/>
          </a:p>
        </p:txBody>
      </p:sp>
      <p:sp>
        <p:nvSpPr>
          <p:cNvPr id="53" name="Shape 48">
            <a:extLst xmlns:a="http://schemas.openxmlformats.org/drawingml/2006/main">
              <a:ext uri="{FF2B5EF4-FFF2-40B4-BE49-F238E27FC236}">
                <a16:creationId xmlns:a16="http://schemas.microsoft.com/office/drawing/2014/main" id="{53982F21-24DD-448B-845D-B0DB60BE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32579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Text 49">
            <a:extLst xmlns:a="http://schemas.openxmlformats.org/drawingml/2006/main">
              <a:ext uri="{FF2B5EF4-FFF2-40B4-BE49-F238E27FC236}">
                <a16:creationId xmlns:a16="http://schemas.microsoft.com/office/drawing/2014/main" id="{8881FC5D-9311-410C-AD18-DAC9A615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32579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4</a:t>
            </a:r>
            <a:endParaRPr sz="850"/>
          </a:p>
        </p:txBody>
      </p:sp>
      <p:sp>
        <p:nvSpPr>
          <p:cNvPr id="55" name="Shape 50">
            <a:extLst xmlns:a="http://schemas.openxmlformats.org/drawingml/2006/main">
              <a:ext uri="{FF2B5EF4-FFF2-40B4-BE49-F238E27FC236}">
                <a16:creationId xmlns:a16="http://schemas.microsoft.com/office/drawing/2014/main" id="{133AB872-425B-4AC0-966A-19C332BD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057400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1587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Text 51">
            <a:extLst xmlns:a="http://schemas.openxmlformats.org/drawingml/2006/main">
              <a:ext uri="{FF2B5EF4-FFF2-40B4-BE49-F238E27FC236}">
                <a16:creationId xmlns:a16="http://schemas.microsoft.com/office/drawing/2014/main" id="{293CA226-98FC-483E-973E-FC963BA4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057400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900"/>
          </a:p>
        </p:txBody>
      </p:sp>
      <p:sp>
        <p:nvSpPr>
          <p:cNvPr id="57" name="Text 52">
            <a:extLst xmlns:a="http://schemas.openxmlformats.org/drawingml/2006/main">
              <a:ext uri="{FF2B5EF4-FFF2-40B4-BE49-F238E27FC236}">
                <a16:creationId xmlns:a16="http://schemas.microsoft.com/office/drawing/2014/main" id="{35BB4D94-50F3-45CE-B5CF-20250125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2039112"/>
            <a:ext cx="314553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data — 시점별 수치 데이터</a:t>
            </a:r>
            <a:endParaRPr sz="1150"/>
          </a:p>
        </p:txBody>
      </p:sp>
      <p:sp>
        <p:nvSpPr>
          <p:cNvPr id="58" name="Text 53">
            <a:extLst xmlns:a="http://schemas.openxmlformats.org/drawingml/2006/main">
              <a:ext uri="{FF2B5EF4-FFF2-40B4-BE49-F238E27FC236}">
                <a16:creationId xmlns:a16="http://schemas.microsoft.com/office/drawing/2014/main" id="{39DDC27A-D655-43FE-B580-0289D4A7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2331720"/>
            <a:ext cx="1280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D1D1F"/>
                </a:solidFill>
                <a:latin typeface="Consolas"/>
                <a:ea typeface="Consolas"/>
                <a:cs typeface="Consolas"/>
              </a:rPr>
              <a:t>file-000.parquet</a:t>
            </a:r>
            <a:endParaRPr sz="850"/>
          </a:p>
        </p:txBody>
      </p:sp>
      <p:sp>
        <p:nvSpPr>
          <p:cNvPr id="59" name="Text 54">
            <a:extLst xmlns:a="http://schemas.openxmlformats.org/drawingml/2006/main">
              <a:ext uri="{FF2B5EF4-FFF2-40B4-BE49-F238E27FC236}">
                <a16:creationId xmlns:a16="http://schemas.microsoft.com/office/drawing/2014/main" id="{91B5D6BF-AA5B-4240-9CC9-8D652575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512" y="2331720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state · action · index</a:t>
            </a:r>
            <a:endParaRPr sz="900"/>
          </a:p>
        </p:txBody>
      </p:sp>
      <p:sp>
        <p:nvSpPr>
          <p:cNvPr id="60" name="Shape 55">
            <a:extLst xmlns:a="http://schemas.openxmlformats.org/drawingml/2006/main">
              <a:ext uri="{FF2B5EF4-FFF2-40B4-BE49-F238E27FC236}">
                <a16:creationId xmlns:a16="http://schemas.microsoft.com/office/drawing/2014/main" id="{13A20EC3-9EF4-4FEF-AB20-C41C741E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743200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1587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Text 56">
            <a:extLst xmlns:a="http://schemas.openxmlformats.org/drawingml/2006/main">
              <a:ext uri="{FF2B5EF4-FFF2-40B4-BE49-F238E27FC236}">
                <a16:creationId xmlns:a16="http://schemas.microsoft.com/office/drawing/2014/main" id="{86D08D1C-D991-443E-9897-E69EA616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743200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900"/>
          </a:p>
        </p:txBody>
      </p:sp>
      <p:sp>
        <p:nvSpPr>
          <p:cNvPr id="62" name="Text 57">
            <a:extLst xmlns:a="http://schemas.openxmlformats.org/drawingml/2006/main">
              <a:ext uri="{FF2B5EF4-FFF2-40B4-BE49-F238E27FC236}">
                <a16:creationId xmlns:a16="http://schemas.microsoft.com/office/drawing/2014/main" id="{4B550350-F2D2-4D45-B756-00155042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2724912"/>
            <a:ext cx="314553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meta — 데이터셋을 해석하는 정보</a:t>
            </a:r>
            <a:endParaRPr sz="1150"/>
          </a:p>
        </p:txBody>
      </p:sp>
      <p:sp>
        <p:nvSpPr>
          <p:cNvPr id="63" name="Text 58">
            <a:extLst xmlns:a="http://schemas.openxmlformats.org/drawingml/2006/main">
              <a:ext uri="{FF2B5EF4-FFF2-40B4-BE49-F238E27FC236}">
                <a16:creationId xmlns:a16="http://schemas.microsoft.com/office/drawing/2014/main" id="{F9364409-EE83-4575-A436-009592BA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3017520"/>
            <a:ext cx="1280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D1D1F"/>
                </a:solidFill>
                <a:latin typeface="Consolas"/>
                <a:ea typeface="Consolas"/>
                <a:cs typeface="Consolas"/>
              </a:rPr>
              <a:t>info.json</a:t>
            </a:r>
            <a:endParaRPr sz="850"/>
          </a:p>
        </p:txBody>
      </p:sp>
      <p:sp>
        <p:nvSpPr>
          <p:cNvPr id="64" name="Text 59">
            <a:extLst xmlns:a="http://schemas.openxmlformats.org/drawingml/2006/main">
              <a:ext uri="{FF2B5EF4-FFF2-40B4-BE49-F238E27FC236}">
                <a16:creationId xmlns:a16="http://schemas.microsoft.com/office/drawing/2014/main" id="{30EC9BEA-998D-41B5-BE2C-8107377F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512" y="3017520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FPS · feature · 경로</a:t>
            </a:r>
            <a:endParaRPr sz="900"/>
          </a:p>
        </p:txBody>
      </p:sp>
      <p:sp>
        <p:nvSpPr>
          <p:cNvPr id="65" name="Text 60">
            <a:extLst xmlns:a="http://schemas.openxmlformats.org/drawingml/2006/main">
              <a:ext uri="{FF2B5EF4-FFF2-40B4-BE49-F238E27FC236}">
                <a16:creationId xmlns:a16="http://schemas.microsoft.com/office/drawing/2014/main" id="{8422A56C-F1C1-4A06-8F18-67C444BD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3255264"/>
            <a:ext cx="1280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D1D1F"/>
                </a:solidFill>
                <a:latin typeface="Consolas"/>
                <a:ea typeface="Consolas"/>
                <a:cs typeface="Consolas"/>
              </a:rPr>
              <a:t>stats.json</a:t>
            </a:r>
            <a:endParaRPr sz="850"/>
          </a:p>
        </p:txBody>
      </p:sp>
      <p:sp>
        <p:nvSpPr>
          <p:cNvPr id="66" name="Text 61">
            <a:extLst xmlns:a="http://schemas.openxmlformats.org/drawingml/2006/main">
              <a:ext uri="{FF2B5EF4-FFF2-40B4-BE49-F238E27FC236}">
                <a16:creationId xmlns:a16="http://schemas.microsoft.com/office/drawing/2014/main" id="{21311719-7D42-4B2D-90D0-11930655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512" y="3255264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평균·표준편차·min·max</a:t>
            </a:r>
            <a:endParaRPr sz="900"/>
          </a:p>
        </p:txBody>
      </p:sp>
      <p:sp>
        <p:nvSpPr>
          <p:cNvPr id="67" name="Text 62">
            <a:extLst xmlns:a="http://schemas.openxmlformats.org/drawingml/2006/main">
              <a:ext uri="{FF2B5EF4-FFF2-40B4-BE49-F238E27FC236}">
                <a16:creationId xmlns:a16="http://schemas.microsoft.com/office/drawing/2014/main" id="{A0A526BF-08BE-4DA9-A21B-ADBCBBE8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3493008"/>
            <a:ext cx="1280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D1D1F"/>
                </a:solidFill>
                <a:latin typeface="Consolas"/>
                <a:ea typeface="Consolas"/>
                <a:cs typeface="Consolas"/>
              </a:rPr>
              <a:t>tasks.parquet</a:t>
            </a:r>
            <a:endParaRPr sz="850"/>
          </a:p>
        </p:txBody>
      </p:sp>
      <p:sp>
        <p:nvSpPr>
          <p:cNvPr id="68" name="Text 63">
            <a:extLst xmlns:a="http://schemas.openxmlformats.org/drawingml/2006/main">
              <a:ext uri="{FF2B5EF4-FFF2-40B4-BE49-F238E27FC236}">
                <a16:creationId xmlns:a16="http://schemas.microsoft.com/office/drawing/2014/main" id="{585F8E9F-6D2F-42F9-A6FE-4E8E89EC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512" y="3493008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task 문장 ↔ index</a:t>
            </a:r>
            <a:endParaRPr sz="900"/>
          </a:p>
        </p:txBody>
      </p:sp>
      <p:sp>
        <p:nvSpPr>
          <p:cNvPr id="69" name="Text 64">
            <a:extLst xmlns:a="http://schemas.openxmlformats.org/drawingml/2006/main">
              <a:ext uri="{FF2B5EF4-FFF2-40B4-BE49-F238E27FC236}">
                <a16:creationId xmlns:a16="http://schemas.microsoft.com/office/drawing/2014/main" id="{B74E4343-B382-4BD7-8BF2-99E20796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3730752"/>
            <a:ext cx="1280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D1D1F"/>
                </a:solidFill>
                <a:latin typeface="Consolas"/>
                <a:ea typeface="Consolas"/>
                <a:cs typeface="Consolas"/>
              </a:rPr>
              <a:t>episodes/*.parquet</a:t>
            </a:r>
            <a:endParaRPr sz="850"/>
          </a:p>
        </p:txBody>
      </p:sp>
      <p:sp>
        <p:nvSpPr>
          <p:cNvPr id="70" name="Text 65">
            <a:extLst xmlns:a="http://schemas.openxmlformats.org/drawingml/2006/main">
              <a:ext uri="{FF2B5EF4-FFF2-40B4-BE49-F238E27FC236}">
                <a16:creationId xmlns:a16="http://schemas.microsoft.com/office/drawing/2014/main" id="{B6A40E11-7C5F-44EA-A1A7-CA033158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512" y="3730752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길이 · 구간 · 영상 위치</a:t>
            </a:r>
            <a:endParaRPr sz="900"/>
          </a:p>
        </p:txBody>
      </p:sp>
      <p:sp>
        <p:nvSpPr>
          <p:cNvPr id="71" name="Shape 66">
            <a:extLst xmlns:a="http://schemas.openxmlformats.org/drawingml/2006/main">
              <a:ext uri="{FF2B5EF4-FFF2-40B4-BE49-F238E27FC236}">
                <a16:creationId xmlns:a16="http://schemas.microsoft.com/office/drawing/2014/main" id="{3899A4A2-D5D6-4481-83D5-F352C201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160520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1587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" name="Text 67">
            <a:extLst xmlns:a="http://schemas.openxmlformats.org/drawingml/2006/main">
              <a:ext uri="{FF2B5EF4-FFF2-40B4-BE49-F238E27FC236}">
                <a16:creationId xmlns:a16="http://schemas.microsoft.com/office/drawing/2014/main" id="{617BBAA6-4E27-42B4-BE1F-C45F0F49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160520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900"/>
          </a:p>
        </p:txBody>
      </p:sp>
      <p:sp>
        <p:nvSpPr>
          <p:cNvPr id="73" name="Text 68">
            <a:extLst xmlns:a="http://schemas.openxmlformats.org/drawingml/2006/main">
              <a:ext uri="{FF2B5EF4-FFF2-40B4-BE49-F238E27FC236}">
                <a16:creationId xmlns:a16="http://schemas.microsoft.com/office/drawing/2014/main" id="{C54B6B10-08F5-4984-A8BA-A0B5EC9A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4142232"/>
            <a:ext cx="314553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videos — 압축된 최종 영상</a:t>
            </a:r>
            <a:endParaRPr sz="1150"/>
          </a:p>
        </p:txBody>
      </p:sp>
      <p:sp>
        <p:nvSpPr>
          <p:cNvPr id="74" name="Text 69">
            <a:extLst xmlns:a="http://schemas.openxmlformats.org/drawingml/2006/main">
              <a:ext uri="{FF2B5EF4-FFF2-40B4-BE49-F238E27FC236}">
                <a16:creationId xmlns:a16="http://schemas.microsoft.com/office/drawing/2014/main" id="{FE52F7E9-05E4-4882-B530-2A4479A4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4434840"/>
            <a:ext cx="1280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D1D1F"/>
                </a:solidFill>
                <a:latin typeface="Consolas"/>
                <a:ea typeface="Consolas"/>
                <a:cs typeface="Consolas"/>
              </a:rPr>
              <a:t>top / side / top_depth</a:t>
            </a:r>
            <a:endParaRPr sz="850"/>
          </a:p>
        </p:txBody>
      </p:sp>
      <p:sp>
        <p:nvSpPr>
          <p:cNvPr id="75" name="Text 70">
            <a:extLst xmlns:a="http://schemas.openxmlformats.org/drawingml/2006/main">
              <a:ext uri="{FF2B5EF4-FFF2-40B4-BE49-F238E27FC236}">
                <a16:creationId xmlns:a16="http://schemas.microsoft.com/office/drawing/2014/main" id="{BD85CB35-C500-4E5B-BA36-F7789DE8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512" y="4434840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RGB H.264 · depth HEVC lossless</a:t>
            </a:r>
            <a:endParaRPr sz="900"/>
          </a:p>
        </p:txBody>
      </p:sp>
      <p:sp>
        <p:nvSpPr>
          <p:cNvPr id="76" name="Shape 71">
            <a:extLst xmlns:a="http://schemas.openxmlformats.org/drawingml/2006/main">
              <a:ext uri="{FF2B5EF4-FFF2-40B4-BE49-F238E27FC236}">
                <a16:creationId xmlns:a16="http://schemas.microsoft.com/office/drawing/2014/main" id="{B828881A-85A5-47C3-8901-015079B7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846320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7" name="Text 72">
            <a:extLst xmlns:a="http://schemas.openxmlformats.org/drawingml/2006/main">
              <a:ext uri="{FF2B5EF4-FFF2-40B4-BE49-F238E27FC236}">
                <a16:creationId xmlns:a16="http://schemas.microsoft.com/office/drawing/2014/main" id="{C9AC561F-9631-4458-B645-C355881E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846320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4</a:t>
            </a:r>
            <a:endParaRPr sz="900"/>
          </a:p>
        </p:txBody>
      </p:sp>
      <p:sp>
        <p:nvSpPr>
          <p:cNvPr id="78" name="Text 73">
            <a:extLst xmlns:a="http://schemas.openxmlformats.org/drawingml/2006/main">
              <a:ext uri="{FF2B5EF4-FFF2-40B4-BE49-F238E27FC236}">
                <a16:creationId xmlns:a16="http://schemas.microsoft.com/office/drawing/2014/main" id="{F3278055-DBA3-45B6-96B8-030201F5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4828032"/>
            <a:ext cx="314553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streaming — 녹화 중 인코딩</a:t>
            </a:r>
            <a:endParaRPr sz="1150"/>
          </a:p>
        </p:txBody>
      </p:sp>
      <p:sp>
        <p:nvSpPr>
          <p:cNvPr id="79" name="Text 74">
            <a:extLst xmlns:a="http://schemas.openxmlformats.org/drawingml/2006/main">
              <a:ext uri="{FF2B5EF4-FFF2-40B4-BE49-F238E27FC236}">
                <a16:creationId xmlns:a16="http://schemas.microsoft.com/office/drawing/2014/main" id="{978D4079-2576-4B38-BF89-EF4962B8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5120640"/>
            <a:ext cx="1280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D1D1F"/>
                </a:solidFill>
                <a:latin typeface="Consolas"/>
                <a:ea typeface="Consolas"/>
                <a:cs typeface="Consolas"/>
              </a:rPr>
              <a:t>임시 PNG 폴더 없음</a:t>
            </a:r>
            <a:endParaRPr sz="850"/>
          </a:p>
        </p:txBody>
      </p:sp>
      <p:sp>
        <p:nvSpPr>
          <p:cNvPr id="80" name="Text 75">
            <a:extLst xmlns:a="http://schemas.openxmlformats.org/drawingml/2006/main">
              <a:ext uri="{FF2B5EF4-FFF2-40B4-BE49-F238E27FC236}">
                <a16:creationId xmlns:a16="http://schemas.microsoft.com/office/drawing/2014/main" id="{7ED8AC46-2472-4982-9C16-535677A3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512" y="5120640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episode 종료 후 저장 대기 최소화</a:t>
            </a:r>
            <a:endParaRPr sz="900"/>
          </a:p>
        </p:txBody>
      </p:sp>
      <p:sp>
        <p:nvSpPr>
          <p:cNvPr id="81" name="Shape 76">
            <a:extLst xmlns:a="http://schemas.openxmlformats.org/drawingml/2006/main">
              <a:ext uri="{FF2B5EF4-FFF2-40B4-BE49-F238E27FC236}">
                <a16:creationId xmlns:a16="http://schemas.microsoft.com/office/drawing/2014/main" id="{EB2E15E9-4ABB-4B27-A00A-F998D873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651760"/>
            <a:ext cx="34564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2" name="Shape 77">
            <a:extLst xmlns:a="http://schemas.openxmlformats.org/drawingml/2006/main">
              <a:ext uri="{FF2B5EF4-FFF2-40B4-BE49-F238E27FC236}">
                <a16:creationId xmlns:a16="http://schemas.microsoft.com/office/drawing/2014/main" id="{6E4623BF-EA9D-482C-B5A7-3A175B2E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069080"/>
            <a:ext cx="34564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3" name="Shape 78">
            <a:extLst xmlns:a="http://schemas.openxmlformats.org/drawingml/2006/main">
              <a:ext uri="{FF2B5EF4-FFF2-40B4-BE49-F238E27FC236}">
                <a16:creationId xmlns:a16="http://schemas.microsoft.com/office/drawing/2014/main" id="{81397E2B-7153-4028-8095-F16A2D1C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754880"/>
            <a:ext cx="34564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4" name="Shape 79">
            <a:extLst xmlns:a="http://schemas.openxmlformats.org/drawingml/2006/main">
              <a:ext uri="{FF2B5EF4-FFF2-40B4-BE49-F238E27FC236}">
                <a16:creationId xmlns:a16="http://schemas.microsoft.com/office/drawing/2014/main" id="{2528902B-F3C6-4704-828C-5D6D685E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5486400"/>
            <a:ext cx="132588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12700">
            <a:solidFill>
              <a:srgbClr val="E8F1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5" name="Text 80">
            <a:extLst xmlns:a="http://schemas.openxmlformats.org/drawingml/2006/main">
              <a:ext uri="{FF2B5EF4-FFF2-40B4-BE49-F238E27FC236}">
                <a16:creationId xmlns:a16="http://schemas.microsoft.com/office/drawing/2014/main" id="{B9380A06-A200-4494-AA46-1D3CDE59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5486400"/>
            <a:ext cx="1325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066CC"/>
                </a:solidFill>
                <a:latin typeface="Consolas"/>
                <a:ea typeface="Consolas"/>
                <a:cs typeface="Consolas"/>
              </a:rPr>
              <a:t>episode_index</a:t>
            </a:r>
            <a:endParaRPr sz="900"/>
          </a:p>
        </p:txBody>
      </p:sp>
      <p:sp>
        <p:nvSpPr>
          <p:cNvPr id="86" name="Shape 81">
            <a:extLst xmlns:a="http://schemas.openxmlformats.org/drawingml/2006/main">
              <a:ext uri="{FF2B5EF4-FFF2-40B4-BE49-F238E27FC236}">
                <a16:creationId xmlns:a16="http://schemas.microsoft.com/office/drawing/2014/main" id="{C4761C1E-4FCF-45B8-AC52-AC6222CE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5623560"/>
            <a:ext cx="2468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7" name="Shape 82">
            <a:extLst xmlns:a="http://schemas.openxmlformats.org/drawingml/2006/main">
              <a:ext uri="{FF2B5EF4-FFF2-40B4-BE49-F238E27FC236}">
                <a16:creationId xmlns:a16="http://schemas.microsoft.com/office/drawing/2014/main" id="{97EE50E2-6FEB-4A04-8C42-08485571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528" y="5486400"/>
            <a:ext cx="118872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8" name="Text 83">
            <a:extLst xmlns:a="http://schemas.openxmlformats.org/drawingml/2006/main">
              <a:ext uri="{FF2B5EF4-FFF2-40B4-BE49-F238E27FC236}">
                <a16:creationId xmlns:a16="http://schemas.microsoft.com/office/drawing/2014/main" id="{C85274FF-1CB4-4709-844C-992BAAF1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528" y="5486400"/>
            <a:ext cx="1188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data · 수치</a:t>
            </a:r>
            <a:endParaRPr sz="800"/>
          </a:p>
        </p:txBody>
      </p:sp>
      <p:sp>
        <p:nvSpPr>
          <p:cNvPr id="89" name="Shape 84">
            <a:extLst xmlns:a="http://schemas.openxmlformats.org/drawingml/2006/main">
              <a:ext uri="{FF2B5EF4-FFF2-40B4-BE49-F238E27FC236}">
                <a16:creationId xmlns:a16="http://schemas.microsoft.com/office/drawing/2014/main" id="{181F61D8-0600-44A2-ADD2-3C5D0AA0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562356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2D7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0" name="Shape 85">
            <a:extLst xmlns:a="http://schemas.openxmlformats.org/drawingml/2006/main">
              <a:ext uri="{FF2B5EF4-FFF2-40B4-BE49-F238E27FC236}">
                <a16:creationId xmlns:a16="http://schemas.microsoft.com/office/drawing/2014/main" id="{B5B93D7E-5FDC-4BD2-8724-DD481E12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5486400"/>
            <a:ext cx="118872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1" name="Text 86">
            <a:extLst xmlns:a="http://schemas.openxmlformats.org/drawingml/2006/main">
              <a:ext uri="{FF2B5EF4-FFF2-40B4-BE49-F238E27FC236}">
                <a16:creationId xmlns:a16="http://schemas.microsoft.com/office/drawing/2014/main" id="{55A7CB4D-0B8E-4551-83A7-25D2D06A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5486400"/>
            <a:ext cx="1188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meta · 구간·위치</a:t>
            </a:r>
            <a:endParaRPr sz="800"/>
          </a:p>
        </p:txBody>
      </p:sp>
      <p:sp>
        <p:nvSpPr>
          <p:cNvPr id="92" name="Shape 87">
            <a:extLst xmlns:a="http://schemas.openxmlformats.org/drawingml/2006/main">
              <a:ext uri="{FF2B5EF4-FFF2-40B4-BE49-F238E27FC236}">
                <a16:creationId xmlns:a16="http://schemas.microsoft.com/office/drawing/2014/main" id="{4ABF91D2-306A-4520-B0B7-1B43D372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568" y="562356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2D7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3" name="Shape 88">
            <a:extLst xmlns:a="http://schemas.openxmlformats.org/drawingml/2006/main">
              <a:ext uri="{FF2B5EF4-FFF2-40B4-BE49-F238E27FC236}">
                <a16:creationId xmlns:a16="http://schemas.microsoft.com/office/drawing/2014/main" id="{FD0734DF-C2E6-4FCE-AF21-DD3A6051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8168" y="5486400"/>
            <a:ext cx="118872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4" name="Text 89">
            <a:extLst xmlns:a="http://schemas.openxmlformats.org/drawingml/2006/main">
              <a:ext uri="{FF2B5EF4-FFF2-40B4-BE49-F238E27FC236}">
                <a16:creationId xmlns:a16="http://schemas.microsoft.com/office/drawing/2014/main" id="{0B9912D4-4CEE-4006-8F22-E5B9CC23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8168" y="5486400"/>
            <a:ext cx="1188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videos · 영상</a:t>
            </a:r>
            <a:endParaRPr sz="800"/>
          </a:p>
        </p:txBody>
      </p:sp>
      <p:sp>
        <p:nvSpPr>
          <p:cNvPr id="95" name="Shape 90">
            <a:extLst xmlns:a="http://schemas.openxmlformats.org/drawingml/2006/main">
              <a:ext uri="{FF2B5EF4-FFF2-40B4-BE49-F238E27FC236}">
                <a16:creationId xmlns:a16="http://schemas.microsoft.com/office/drawing/2014/main" id="{F27B8DDC-2AA8-4E3D-82F3-307D7BDE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5897880"/>
            <a:ext cx="5559552" cy="393192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CEFE6"/>
          </a:solidFill>
          <a:ln xmlns:a="http://schemas.openxmlformats.org/drawingml/2006/main" w="12700">
            <a:solidFill>
              <a:srgbClr val="FCEF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6" name="Text 91">
            <a:extLst xmlns:a="http://schemas.openxmlformats.org/drawingml/2006/main">
              <a:ext uri="{FF2B5EF4-FFF2-40B4-BE49-F238E27FC236}">
                <a16:creationId xmlns:a16="http://schemas.microsoft.com/office/drawing/2014/main" id="{7DAE4BFE-7C27-4EB6-838E-363934C2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897880"/>
            <a:ext cx="5285232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C4520F"/>
                </a:solidFill>
                <a:latin typeface="Malgun Gothic"/>
                <a:ea typeface="Malgun Gothic"/>
                <a:cs typeface="Malgun Gothic"/>
              </a:rPr>
              <a:t>수치·RGB·depth·메타는 episode_index와 frame_index로 함께 관리</a:t>
            </a:r>
            <a:endParaRPr sz="1050"/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CCDBC5D-4E85-40A7-A49B-315DAA18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971675"/>
            <a:ext cx="195262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F5F1712-C380-4357-8FF2-7DAC1CCA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057400"/>
            <a:ext cx="1828800" cy="2517838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2EC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FECC1FE-BB34-4331-9426-F35D726B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81225"/>
            <a:ext cx="16954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6324A"/>
                </a:solidFill>
                <a:latin typeface="Consolas"/>
                <a:ea typeface="Consolas"/>
                <a:cs typeface="Consolas"/>
              </a:defRPr>
            </a:pPr>
            <a:r>
              <a:rPr sz="675" b="0">
                <a:solidFill>
                  <a:srgbClr val="16324A"/>
                </a:solidFill>
                <a:latin typeface="Consolas"/>
                <a:ea typeface="Consolas"/>
                <a:cs typeface="Consolas"/>
              </a:rPr>
              <a:t>auto_home_dataset/</a:t>
            </a:r>
          </a:p>
          <a:p xmlns:a="http://schemas.openxmlformats.org/drawingml/2006/main">
            <a:pPr algn="l">
              <a:buNone/>
              <a:defRPr sz="675" b="0">
                <a:solidFill>
                  <a:srgbClr val="16324A"/>
                </a:solidFill>
                <a:latin typeface="Consolas"/>
                <a:ea typeface="Consolas"/>
                <a:cs typeface="Consolas"/>
              </a:defRPr>
            </a:pPr>
            <a:r>
              <a:rPr sz="675" b="0">
                <a:solidFill>
                  <a:srgbClr val="16324A"/>
                </a:solidFill>
                <a:latin typeface="Consolas"/>
                <a:ea typeface="Consolas"/>
                <a:cs typeface="Consolas"/>
              </a:rPr>
              <a:t>├─ data/</a:t>
            </a:r>
          </a:p>
          <a:p xmlns:a="http://schemas.openxmlformats.org/drawingml/2006/main">
            <a:pPr algn="l">
              <a:buNone/>
              <a:defRPr sz="675" b="0">
                <a:solidFill>
                  <a:srgbClr val="16324A"/>
                </a:solidFill>
                <a:latin typeface="Consolas"/>
                <a:ea typeface="Consolas"/>
                <a:cs typeface="Consolas"/>
              </a:defRPr>
            </a:pPr>
            <a:r>
              <a:rPr sz="675" b="0">
                <a:solidFill>
                  <a:srgbClr val="16324A"/>
                </a:solidFill>
                <a:latin typeface="Consolas"/>
                <a:ea typeface="Consolas"/>
                <a:cs typeface="Consolas"/>
              </a:rPr>
              <a:t>├─ meta/</a:t>
            </a:r>
          </a:p>
          <a:p xmlns:a="http://schemas.openxmlformats.org/drawingml/2006/main">
            <a:pPr algn="l">
              <a:buNone/>
              <a:defRPr sz="675" b="0">
                <a:solidFill>
                  <a:srgbClr val="16324A"/>
                </a:solidFill>
                <a:latin typeface="Consolas"/>
                <a:ea typeface="Consolas"/>
                <a:cs typeface="Consolas"/>
              </a:defRPr>
            </a:pPr>
            <a:r>
              <a:rPr sz="675" b="0">
                <a:solidFill>
                  <a:srgbClr val="16324A"/>
                </a:solidFill>
                <a:latin typeface="Consolas"/>
                <a:ea typeface="Consolas"/>
                <a:cs typeface="Consolas"/>
              </a:rPr>
              <a:t>└─ videos/</a:t>
            </a:r>
          </a:p>
          <a:p xmlns:a="http://schemas.openxmlformats.org/drawingml/2006/main">
            <a:pPr algn="l">
              <a:buNone/>
              <a:defRPr sz="675" b="0">
                <a:solidFill>
                  <a:srgbClr val="16324A"/>
                </a:solidFill>
                <a:latin typeface="Consolas"/>
                <a:ea typeface="Consolas"/>
                <a:cs typeface="Consolas"/>
              </a:defRPr>
            </a:pPr>
            <a:r>
              <a:rPr sz="675" b="0">
                <a:solidFill>
                  <a:srgbClr val="16324A"/>
                </a:solidFill>
                <a:latin typeface="Consolas"/>
                <a:ea typeface="Consolas"/>
                <a:cs typeface="Consolas"/>
              </a:rPr>
              <a:t>   ├─ observation.images.top/</a:t>
            </a:r>
          </a:p>
          <a:p xmlns:a="http://schemas.openxmlformats.org/drawingml/2006/main">
            <a:pPr algn="l">
              <a:buNone/>
              <a:defRPr sz="675" b="0">
                <a:solidFill>
                  <a:srgbClr val="16324A"/>
                </a:solidFill>
                <a:latin typeface="Consolas"/>
                <a:ea typeface="Consolas"/>
                <a:cs typeface="Consolas"/>
              </a:defRPr>
            </a:pPr>
            <a:r>
              <a:rPr sz="675" b="0">
                <a:solidFill>
                  <a:srgbClr val="16324A"/>
                </a:solidFill>
                <a:latin typeface="Consolas"/>
                <a:ea typeface="Consolas"/>
                <a:cs typeface="Consolas"/>
              </a:rPr>
              <a:t>   ├─ observation.images.side/</a:t>
            </a:r>
          </a:p>
          <a:p xmlns:a="http://schemas.openxmlformats.org/drawingml/2006/main">
            <a:pPr algn="l">
              <a:buNone/>
              <a:defRPr sz="675" b="0">
                <a:solidFill>
                  <a:srgbClr val="16324A"/>
                </a:solidFill>
                <a:latin typeface="Consolas"/>
                <a:ea typeface="Consolas"/>
                <a:cs typeface="Consolas"/>
              </a:defRPr>
            </a:pPr>
            <a:r>
              <a:rPr sz="675" b="0">
                <a:solidFill>
                  <a:srgbClr val="16324A"/>
                </a:solidFill>
                <a:latin typeface="Consolas"/>
                <a:ea typeface="Consolas"/>
                <a:cs typeface="Consolas"/>
              </a:rPr>
              <a:t>   └─ observation.images.top_depth/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28DAE70-D39C-45EF-9552-9D50C2ED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267200"/>
            <a:ext cx="1590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875E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875E1"/>
                </a:solidFill>
                <a:latin typeface="Malgun Gothic"/>
                <a:ea typeface="Malgun Gothic"/>
                <a:cs typeface="Malgun Gothic"/>
              </a:rPr>
              <a:t>LeRobot v3 structure</a:t>
            </a:r>
          </a:p>
        </p:txBody>
      </p:sp>
    </p:spTree>
    <p:extLst>
      <p:ext uri="{BB962C8B-B14F-4D97-AF65-F5344CB8AC3E}">
        <p14:creationId xmlns:p14="http://schemas.microsoft.com/office/powerpoint/2010/main" val="21118046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7B657AC-D694-44AD-8DD6-6601A42D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50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TASKS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DF00FC2-971B-4EA5-90E4-949A2253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하나의 수집 규격으로 3개 Task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5F24E82-B9CC-4561-BF7A-D7EF0DF7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70432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같은 HOME · 카메라 · 저장 구조를 공유하고, Task마다 시작 · 수행 · 성공 기준만 다르게 정의</a:t>
            </a:r>
            <a:endParaRPr sz="13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951F710-9FE0-4448-8920-29F1C622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4572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6868B"/>
                </a:solidFill>
                <a:latin typeface="Malgun Gothic"/>
                <a:ea typeface="Malgun Gothic"/>
                <a:cs typeface="Malgun Gothic"/>
              </a:rPr>
              <a:t>SO-101 · LeRobot Dataset Collection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972BFB1-B767-4C9D-9F9E-F7DD9E1E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512" y="647395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86868B"/>
                </a:solidFill>
                <a:latin typeface="Malgun Gothic"/>
                <a:ea typeface="Malgun Gothic"/>
                <a:cs typeface="Malgun Gothic"/>
              </a:rPr>
              <a:t>04 / 07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D6795C0-BE98-48FB-8D84-275B8245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120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PICK &amp; PLACE</a:t>
            </a:r>
            <a:endParaRPr sz="9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F0553BA-23F6-4D5D-9A8F-4E023D69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746504"/>
            <a:ext cx="43068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E66B39A-2868-47A8-899C-8067A874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92808"/>
            <a:ext cx="263347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인형</a:t>
            </a:r>
            <a:r>
              <a:rPr sz="16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(top-down</a:t>
            </a:r>
            <a:r>
              <a:rPr sz="16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grasp)</a:t>
            </a:r>
            <a:endParaRPr sz="1600"/>
          </a:p>
        </p:txBody>
      </p:sp>
      <p:pic>
        <p:nvPicPr>
          <p:cNvPr id="7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e9626c757646a8"/>
          <a:srcRect xmlns:a="http://schemas.openxmlformats.org/drawingml/2006/main" l="1499" t="0" r="14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2286000"/>
            <a:ext cx="2633472" cy="2036159"/>
          </a:xfrm>
          <a:prstGeom xmlns:a="http://schemas.openxmlformats.org/drawingml/2006/main" prst="roundRect">
            <a:avLst>
              <a:gd name="adj" fmla="val 4678"/>
            </a:avLst>
          </a:prstGeom>
        </p:spPr>
      </p:pic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FEACE9E-196E-4BA6-BAB9-24969440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974718"/>
            <a:ext cx="754380" cy="2377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20ECFD4-1132-4F85-8E1A-38C72D6D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974718"/>
            <a:ext cx="7543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수행 장면</a:t>
            </a:r>
            <a:endParaRPr sz="8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64B368D-2B5B-4BC8-95AC-4256256B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28032"/>
            <a:ext cx="2633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F42EA31-C125-4DC5-BE42-C20D79BD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98848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시작</a:t>
            </a:r>
            <a:endParaRPr sz="9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0D1B081-66B1-466C-BCCC-C24946E6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498848"/>
            <a:ext cx="222199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95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인형을 박스 밖 지정 위치에 배치</a:t>
            </a:r>
            <a:endParaRPr sz="9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8A9DE6A-8B6F-43DE-8E3D-712AC29B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377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수행</a:t>
            </a:r>
            <a:endParaRPr sz="9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1357FAA7-60B8-49A5-BBDE-F7548EF3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37760"/>
            <a:ext cx="222199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95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위에서 </a:t>
            </a:r>
            <a:r>
              <a:rPr sz="95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인형</a:t>
            </a:r>
            <a:r>
              <a:rPr sz="95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 집기 → 박스 안으로 이동 → 그리퍼를 열어 내려놓기</a:t>
            </a:r>
            <a:endParaRPr sz="9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F7C21C9-0B87-4997-8D7B-8D9395A7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68112"/>
            <a:ext cx="2633472" cy="658368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12700">
            <a:solidFill>
              <a:srgbClr val="E8F1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FF00E8FB-241A-4453-BF8F-BC264E27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59552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성공</a:t>
            </a:r>
            <a:endParaRPr sz="9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783F41B2-9B3D-4CA8-819F-ADE777BF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559552"/>
            <a:ext cx="2020824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9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인형이 박스 안에 완전히 들어가고, 로봇이 인형에서 떨어짐</a:t>
            </a:r>
            <a:endParaRPr sz="95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F089DB95-69D6-4891-8572-0D0C93C5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892808"/>
            <a:ext cx="263347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종이컵</a:t>
            </a:r>
            <a:r>
              <a:rPr sz="16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 (side-grasp)</a:t>
            </a:r>
            <a:endParaRPr sz="1600"/>
          </a:p>
        </p:txBody>
      </p:sp>
      <p:pic>
        <p:nvPicPr>
          <p:cNvPr id="8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cafe5afe2d4088"/>
          <a:srcRect xmlns:a="http://schemas.openxmlformats.org/drawingml/2006/main" l="152" t="0" r="1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64992" y="2286000"/>
            <a:ext cx="2633472" cy="2036159"/>
          </a:xfrm>
          <a:prstGeom xmlns:a="http://schemas.openxmlformats.org/drawingml/2006/main" prst="roundRect">
            <a:avLst>
              <a:gd name="adj" fmla="val 4678"/>
            </a:avLst>
          </a:prstGeom>
        </p:spPr>
      </p:pic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8A30AEBD-57BB-437B-951E-63E7FF49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974718"/>
            <a:ext cx="754380" cy="2377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F9D67D7-D087-4E4C-BA2C-669BD0B4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974718"/>
            <a:ext cx="7543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수행 장면</a:t>
            </a:r>
            <a:endParaRPr sz="800"/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50457115-BEDF-4803-A1B9-799332D2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4828032"/>
            <a:ext cx="2633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F7EC870-31BD-4B7F-94A0-5DDBFE49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4498848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시작</a:t>
            </a:r>
            <a:endParaRPr sz="9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E14CE1D6-533D-41B0-BF7A-04FD64E8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472" y="4498848"/>
            <a:ext cx="222199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95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종이컵을 세운 상태로 배치</a:t>
            </a:r>
            <a:endParaRPr sz="95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D2704BA2-DB75-4E36-9121-29BEC9D1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49377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수행</a:t>
            </a:r>
            <a:endParaRPr sz="9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6159E8F4-EDDA-45A7-B952-09640FC6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472" y="4937760"/>
            <a:ext cx="222199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95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옆에서 </a:t>
            </a:r>
            <a:r>
              <a:rPr sz="95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컵</a:t>
            </a:r>
            <a:r>
              <a:rPr sz="95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 집기 → 표시된 목표 영역으로 이동 → 세워서 내려놓기</a:t>
            </a:r>
            <a:endParaRPr sz="95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4DB0C5B3-E5E0-4D02-B94B-A745C1CA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5468112"/>
            <a:ext cx="2633472" cy="658368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12700">
            <a:solidFill>
              <a:srgbClr val="E8F1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2E23FE4B-F84B-4C46-A1C9-4FFF7681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5559552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성공</a:t>
            </a:r>
            <a:endParaRPr sz="90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38A32150-3AC8-4F0E-BDA8-5BCD250E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559552"/>
            <a:ext cx="2020824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9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컵이 목표 영역 안에 있고, </a:t>
            </a:r>
            <a:r>
              <a:rPr sz="9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과하게 찌그러지거나 </a:t>
            </a:r>
            <a:r>
              <a:rPr sz="9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쓰러지지</a:t>
            </a:r>
            <a:r>
              <a:rPr sz="9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 않음</a:t>
            </a:r>
            <a:endParaRPr sz="95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67541991-9A66-4C25-85C7-AC26A71B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645920"/>
            <a:ext cx="263347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120">
                <a:solidFill>
                  <a:srgbClr val="5856D6"/>
                </a:solidFill>
                <a:latin typeface="Malgun Gothic"/>
                <a:ea typeface="Malgun Gothic"/>
                <a:cs typeface="Malgun Gothic"/>
              </a:rPr>
              <a:t>SORTING</a:t>
            </a:r>
            <a:endParaRPr sz="95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D00C4359-B5E2-4DA8-B29A-451D068A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892808"/>
            <a:ext cx="263347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종류별 분류</a:t>
            </a:r>
            <a:endParaRPr sz="1600"/>
          </a:p>
        </p:txBody>
      </p:sp>
      <p:pic>
        <p:nvPicPr>
          <p:cNvPr id="9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e2eb355ef34b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81344" y="2286000"/>
            <a:ext cx="2633472" cy="2036190"/>
          </a:xfrm>
          <a:prstGeom xmlns:a="http://schemas.openxmlformats.org/drawingml/2006/main" prst="rect">
            <a:avLst/>
          </a:prstGeom>
        </p:spPr>
      </p:pic>
      <p:sp>
        <p:nvSpPr>
          <p:cNvPr id="36" name="Shape 31">
            <a:extLst xmlns:a="http://schemas.openxmlformats.org/drawingml/2006/main">
              <a:ext uri="{FF2B5EF4-FFF2-40B4-BE49-F238E27FC236}">
                <a16:creationId xmlns:a16="http://schemas.microsoft.com/office/drawing/2014/main" id="{71EF2BEF-FA36-4307-9C96-14C2D680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3974718"/>
            <a:ext cx="2002536" cy="2377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Text 32">
            <a:extLst xmlns:a="http://schemas.openxmlformats.org/drawingml/2006/main">
              <a:ext uri="{FF2B5EF4-FFF2-40B4-BE49-F238E27FC236}">
                <a16:creationId xmlns:a16="http://schemas.microsoft.com/office/drawing/2014/main" id="{787995D9-8F16-4F33-8BD3-2A027D41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3974718"/>
            <a:ext cx="200253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구성 예시 · 인형·컵 목표 위치</a:t>
            </a:r>
            <a:endParaRPr sz="800"/>
          </a:p>
        </p:txBody>
      </p:sp>
      <p:sp>
        <p:nvSpPr>
          <p:cNvPr id="38" name="Shape 33">
            <a:extLst xmlns:a="http://schemas.openxmlformats.org/drawingml/2006/main">
              <a:ext uri="{FF2B5EF4-FFF2-40B4-BE49-F238E27FC236}">
                <a16:creationId xmlns:a16="http://schemas.microsoft.com/office/drawing/2014/main" id="{E1C64EBB-59E5-4D3A-BF58-6D216AA3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4828032"/>
            <a:ext cx="2633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Text 34">
            <a:extLst xmlns:a="http://schemas.openxmlformats.org/drawingml/2006/main">
              <a:ext uri="{FF2B5EF4-FFF2-40B4-BE49-F238E27FC236}">
                <a16:creationId xmlns:a16="http://schemas.microsoft.com/office/drawing/2014/main" id="{03BF2297-FC18-4570-A8F7-835966E3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4498848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5856D6"/>
                </a:solidFill>
                <a:latin typeface="Malgun Gothic"/>
                <a:ea typeface="Malgun Gothic"/>
                <a:cs typeface="Malgun Gothic"/>
              </a:rPr>
              <a:t>시작</a:t>
            </a:r>
            <a:endParaRPr sz="900"/>
          </a:p>
        </p:txBody>
      </p:sp>
      <p:sp>
        <p:nvSpPr>
          <p:cNvPr id="40" name="Text 35">
            <a:extLst xmlns:a="http://schemas.openxmlformats.org/drawingml/2006/main">
              <a:ext uri="{FF2B5EF4-FFF2-40B4-BE49-F238E27FC236}">
                <a16:creationId xmlns:a16="http://schemas.microsoft.com/office/drawing/2014/main" id="{C65FBA20-CDDD-400F-B0BC-0B6BE2EF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4498848"/>
            <a:ext cx="222199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95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여러 종류의 물체를 섞어 배치</a:t>
            </a:r>
            <a:endParaRPr sz="950"/>
          </a:p>
        </p:txBody>
      </p:sp>
      <p:sp>
        <p:nvSpPr>
          <p:cNvPr id="41" name="Text 36">
            <a:extLst xmlns:a="http://schemas.openxmlformats.org/drawingml/2006/main">
              <a:ext uri="{FF2B5EF4-FFF2-40B4-BE49-F238E27FC236}">
                <a16:creationId xmlns:a16="http://schemas.microsoft.com/office/drawing/2014/main" id="{E7353861-A4A3-4676-9267-422DD5E0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49377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5856D6"/>
                </a:solidFill>
                <a:latin typeface="Malgun Gothic"/>
                <a:ea typeface="Malgun Gothic"/>
                <a:cs typeface="Malgun Gothic"/>
              </a:rPr>
              <a:t>수행</a:t>
            </a:r>
            <a:endParaRPr sz="900"/>
          </a:p>
        </p:txBody>
      </p:sp>
      <p:sp>
        <p:nvSpPr>
          <p:cNvPr id="42" name="Text 37">
            <a:extLst xmlns:a="http://schemas.openxmlformats.org/drawingml/2006/main">
              <a:ext uri="{FF2B5EF4-FFF2-40B4-BE49-F238E27FC236}">
                <a16:creationId xmlns:a16="http://schemas.microsoft.com/office/drawing/2014/main" id="{DC3D077D-6C2B-4897-9906-97918CF6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4937760"/>
            <a:ext cx="222199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95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물체를 하나씩 집어 종류에 맞는 목표 위치로 이동</a:t>
            </a:r>
            <a:endParaRPr sz="950"/>
          </a:p>
        </p:txBody>
      </p:sp>
      <p:sp>
        <p:nvSpPr>
          <p:cNvPr id="43" name="Shape 38">
            <a:extLst xmlns:a="http://schemas.openxmlformats.org/drawingml/2006/main">
              <a:ext uri="{FF2B5EF4-FFF2-40B4-BE49-F238E27FC236}">
                <a16:creationId xmlns:a16="http://schemas.microsoft.com/office/drawing/2014/main" id="{1959D53D-F684-46AA-80BA-A5F0D448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5468112"/>
            <a:ext cx="2633472" cy="658368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EEFB"/>
          </a:solidFill>
          <a:ln xmlns:a="http://schemas.openxmlformats.org/drawingml/2006/main" w="12700">
            <a:solidFill>
              <a:srgbClr val="EEEE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Text 39">
            <a:extLst xmlns:a="http://schemas.openxmlformats.org/drawingml/2006/main">
              <a:ext uri="{FF2B5EF4-FFF2-40B4-BE49-F238E27FC236}">
                <a16:creationId xmlns:a16="http://schemas.microsoft.com/office/drawing/2014/main" id="{ADBF381E-6989-4CAC-B24C-7F2E15E9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5559552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5856D6"/>
                </a:solidFill>
                <a:latin typeface="Malgun Gothic"/>
                <a:ea typeface="Malgun Gothic"/>
                <a:cs typeface="Malgun Gothic"/>
              </a:rPr>
              <a:t>성공</a:t>
            </a:r>
            <a:endParaRPr sz="900"/>
          </a:p>
        </p:txBody>
      </p:sp>
      <p:sp>
        <p:nvSpPr>
          <p:cNvPr id="45" name="Text 40">
            <a:extLst xmlns:a="http://schemas.openxmlformats.org/drawingml/2006/main">
              <a:ext uri="{FF2B5EF4-FFF2-40B4-BE49-F238E27FC236}">
                <a16:creationId xmlns:a16="http://schemas.microsoft.com/office/drawing/2014/main" id="{ABBD4619-8FE0-42C1-B8DC-57C17693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5559552"/>
            <a:ext cx="2020824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9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모든 물체가 맞는 위치에 있고, 잘못 분류된 물체가 없음</a:t>
            </a:r>
            <a:endParaRPr sz="950"/>
          </a:p>
        </p:txBody>
      </p:sp>
      <p:sp>
        <p:nvSpPr>
          <p:cNvPr id="46" name="Text 41">
            <a:extLst xmlns:a="http://schemas.openxmlformats.org/drawingml/2006/main">
              <a:ext uri="{FF2B5EF4-FFF2-40B4-BE49-F238E27FC236}">
                <a16:creationId xmlns:a16="http://schemas.microsoft.com/office/drawing/2014/main" id="{ED8C208E-40D7-4220-938E-F39F5760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96" y="1645920"/>
            <a:ext cx="263347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120">
                <a:solidFill>
                  <a:srgbClr val="248A3D"/>
                </a:solidFill>
                <a:latin typeface="Malgun Gothic"/>
                <a:ea typeface="Malgun Gothic"/>
                <a:cs typeface="Malgun Gothic"/>
              </a:rPr>
              <a:t>STACKING</a:t>
            </a:r>
            <a:endParaRPr sz="950"/>
          </a:p>
        </p:txBody>
      </p:sp>
      <p:sp>
        <p:nvSpPr>
          <p:cNvPr id="47" name="Text 42">
            <a:extLst xmlns:a="http://schemas.openxmlformats.org/drawingml/2006/main">
              <a:ext uri="{FF2B5EF4-FFF2-40B4-BE49-F238E27FC236}">
                <a16:creationId xmlns:a16="http://schemas.microsoft.com/office/drawing/2014/main" id="{C657DD8D-2788-4A54-B412-542CAD8F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96" y="1892808"/>
            <a:ext cx="263347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물체 쌓기</a:t>
            </a:r>
            <a:endParaRPr sz="1600"/>
          </a:p>
        </p:txBody>
      </p:sp>
      <p:pic>
        <p:nvPicPr>
          <p:cNvPr id="10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d9799a29649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7696" y="2286000"/>
            <a:ext cx="2633472" cy="2036190"/>
          </a:xfrm>
          <a:prstGeom xmlns:a="http://schemas.openxmlformats.org/drawingml/2006/main" prst="rect">
            <a:avLst/>
          </a:prstGeom>
        </p:spPr>
      </p:pic>
      <p:sp>
        <p:nvSpPr>
          <p:cNvPr id="49" name="Shape 43">
            <a:extLst xmlns:a="http://schemas.openxmlformats.org/drawingml/2006/main">
              <a:ext uri="{FF2B5EF4-FFF2-40B4-BE49-F238E27FC236}">
                <a16:creationId xmlns:a16="http://schemas.microsoft.com/office/drawing/2014/main" id="{02EBF076-C5DB-4D03-8E9B-3A84FB93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424" y="3974718"/>
            <a:ext cx="754380" cy="2377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Text 44">
            <a:extLst xmlns:a="http://schemas.openxmlformats.org/drawingml/2006/main">
              <a:ext uri="{FF2B5EF4-FFF2-40B4-BE49-F238E27FC236}">
                <a16:creationId xmlns:a16="http://schemas.microsoft.com/office/drawing/2014/main" id="{23116C51-1C38-4199-924D-080C2B7E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424" y="3974718"/>
            <a:ext cx="7543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수행 장면</a:t>
            </a:r>
            <a:endParaRPr sz="800"/>
          </a:p>
        </p:txBody>
      </p:sp>
      <p:sp>
        <p:nvSpPr>
          <p:cNvPr id="51" name="Shape 45">
            <a:extLst xmlns:a="http://schemas.openxmlformats.org/drawingml/2006/main">
              <a:ext uri="{FF2B5EF4-FFF2-40B4-BE49-F238E27FC236}">
                <a16:creationId xmlns:a16="http://schemas.microsoft.com/office/drawing/2014/main" id="{0E2362FC-77D7-4102-AFC9-90B13C72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96" y="4828032"/>
            <a:ext cx="2633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Text 46">
            <a:extLst xmlns:a="http://schemas.openxmlformats.org/drawingml/2006/main">
              <a:ext uri="{FF2B5EF4-FFF2-40B4-BE49-F238E27FC236}">
                <a16:creationId xmlns:a16="http://schemas.microsoft.com/office/drawing/2014/main" id="{AC848039-0A38-460E-9D19-9A4683DC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96" y="4498848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248A3D"/>
                </a:solidFill>
                <a:latin typeface="Malgun Gothic"/>
                <a:ea typeface="Malgun Gothic"/>
                <a:cs typeface="Malgun Gothic"/>
              </a:rPr>
              <a:t>시작</a:t>
            </a:r>
            <a:endParaRPr sz="900"/>
          </a:p>
        </p:txBody>
      </p:sp>
      <p:sp>
        <p:nvSpPr>
          <p:cNvPr id="53" name="Text 47">
            <a:extLst xmlns:a="http://schemas.openxmlformats.org/drawingml/2006/main">
              <a:ext uri="{FF2B5EF4-FFF2-40B4-BE49-F238E27FC236}">
                <a16:creationId xmlns:a16="http://schemas.microsoft.com/office/drawing/2014/main" id="{DEE25263-6C6C-4D74-9E9A-43C946C6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176" y="4498848"/>
            <a:ext cx="222199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95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쌓을 박스를 서로 떨어뜨려 배치</a:t>
            </a:r>
            <a:endParaRPr sz="950"/>
          </a:p>
        </p:txBody>
      </p:sp>
      <p:sp>
        <p:nvSpPr>
          <p:cNvPr id="54" name="Text 48">
            <a:extLst xmlns:a="http://schemas.openxmlformats.org/drawingml/2006/main">
              <a:ext uri="{FF2B5EF4-FFF2-40B4-BE49-F238E27FC236}">
                <a16:creationId xmlns:a16="http://schemas.microsoft.com/office/drawing/2014/main" id="{C74ABDF6-8B18-4434-B07F-6AF59DDD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96" y="49377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248A3D"/>
                </a:solidFill>
                <a:latin typeface="Malgun Gothic"/>
                <a:ea typeface="Malgun Gothic"/>
                <a:cs typeface="Malgun Gothic"/>
              </a:rPr>
              <a:t>수행</a:t>
            </a:r>
            <a:endParaRPr sz="900"/>
          </a:p>
        </p:txBody>
      </p:sp>
      <p:sp>
        <p:nvSpPr>
          <p:cNvPr id="55" name="Text 49">
            <a:extLst xmlns:a="http://schemas.openxmlformats.org/drawingml/2006/main">
              <a:ext uri="{FF2B5EF4-FFF2-40B4-BE49-F238E27FC236}">
                <a16:creationId xmlns:a16="http://schemas.microsoft.com/office/drawing/2014/main" id="{FE9695C4-9173-42DD-879D-1E48A31D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176" y="4937760"/>
            <a:ext cx="2221992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95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지정 개수(2·3·4개)만큼 박스를 차례로 쌓기</a:t>
            </a:r>
            <a:endParaRPr sz="950"/>
          </a:p>
        </p:txBody>
      </p:sp>
      <p:sp>
        <p:nvSpPr>
          <p:cNvPr id="56" name="Shape 50">
            <a:extLst xmlns:a="http://schemas.openxmlformats.org/drawingml/2006/main">
              <a:ext uri="{FF2B5EF4-FFF2-40B4-BE49-F238E27FC236}">
                <a16:creationId xmlns:a16="http://schemas.microsoft.com/office/drawing/2014/main" id="{A862B302-59CC-4C60-A8A0-F7342456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96" y="5468112"/>
            <a:ext cx="2633472" cy="658368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4EB"/>
          </a:solidFill>
          <a:ln xmlns:a="http://schemas.openxmlformats.org/drawingml/2006/main" w="12700">
            <a:solidFill>
              <a:srgbClr val="E8F4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Text 51">
            <a:extLst xmlns:a="http://schemas.openxmlformats.org/drawingml/2006/main">
              <a:ext uri="{FF2B5EF4-FFF2-40B4-BE49-F238E27FC236}">
                <a16:creationId xmlns:a16="http://schemas.microsoft.com/office/drawing/2014/main" id="{FA3C54B0-B385-477D-A6A1-7136C393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424" y="5559552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248A3D"/>
                </a:solidFill>
                <a:latin typeface="Malgun Gothic"/>
                <a:ea typeface="Malgun Gothic"/>
                <a:cs typeface="Malgun Gothic"/>
              </a:rPr>
              <a:t>성공</a:t>
            </a:r>
            <a:endParaRPr sz="900"/>
          </a:p>
        </p:txBody>
      </p:sp>
      <p:sp>
        <p:nvSpPr>
          <p:cNvPr id="58" name="Text 52">
            <a:extLst xmlns:a="http://schemas.openxmlformats.org/drawingml/2006/main">
              <a:ext uri="{FF2B5EF4-FFF2-40B4-BE49-F238E27FC236}">
                <a16:creationId xmlns:a16="http://schemas.microsoft.com/office/drawing/2014/main" id="{4C0574C1-0205-468E-A768-1D3C844B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904" y="5559552"/>
            <a:ext cx="2020824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9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요구한 개수만큼 쌓이고, 손을 뗀 뒤에도 유지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5404555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1099280-4507-49F5-B47B-8D51AB36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50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ARCHITECTURE &amp; TASK LABELING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AB0AD07-BAE8-4384-9365-98ACA284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수집부터 추론까지, 하나의 데이터 흐름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66E899C-E15B-431B-9D93-084FC38F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70432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로컬에서 수집·저장하고 NAVER Cloud를 거쳐 B200에서 학습한 checkpoint를 다시 SO-101에 적용</a:t>
            </a:r>
            <a:endParaRPr sz="13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7C444AD-EE7B-446F-827A-7E83D622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4572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6868B"/>
                </a:solidFill>
                <a:latin typeface="Malgun Gothic"/>
                <a:ea typeface="Malgun Gothic"/>
                <a:cs typeface="Malgun Gothic"/>
              </a:rPr>
              <a:t>SO-101 · LeRobot Dataset Collection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82C3E23-8190-41E2-9F97-C38DE116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512" y="647395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86868B"/>
                </a:solidFill>
                <a:latin typeface="Malgun Gothic"/>
                <a:ea typeface="Malgun Gothic"/>
                <a:cs typeface="Malgun Gothic"/>
              </a:rPr>
              <a:t>05 / 07</a:t>
            </a:r>
            <a:endParaRPr sz="8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F802403-A562-4BC0-BC07-C38A010E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4663440" cy="173736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F5F5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485A2E9-1740-4229-A6F9-E2CDE088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71907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LOCAL</a:t>
            </a:r>
            <a:endParaRPr sz="9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4AEAA1F-D349-4D8A-ABE8-AF0C30EE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627632"/>
            <a:ext cx="1737360" cy="173736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F5F5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5D882A8-A920-43E3-B7D7-1F082DFF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171907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CLOUD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147631A-5169-41A6-AE73-CCF63593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627632"/>
            <a:ext cx="4233672" cy="173736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F5F5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406D20B-A377-458B-9C2E-E6887E9C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2" y="171907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GPU SERVER</a:t>
            </a:r>
            <a:endParaRPr sz="9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DA20C27-6F77-4AA9-9DF8-93F08CB9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1280160" cy="118872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ADF9299-5577-409F-83C6-CCBEE308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075688"/>
            <a:ext cx="1097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SO-101</a:t>
            </a:r>
            <a:endParaRPr sz="11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4CC5B3F-6B0D-4899-80A0-6240CD68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331720"/>
            <a:ext cx="10972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8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Leader + Follower</a:t>
            </a:r>
            <a:endParaRPr sz="85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8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TOP RGB-D + SIDE RGB</a:t>
            </a:r>
            <a:endParaRPr sz="8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463F86B-3C52-4D4F-B418-76D075E6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843784"/>
            <a:ext cx="11338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→ Teleoperation</a:t>
            </a:r>
            <a:endParaRPr sz="8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5CE8BFD-60AF-4BC6-9313-6BBAE5A7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112" y="2560320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66CC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DC62FAE-6B18-4F2D-B778-330734C5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568" y="1965960"/>
            <a:ext cx="1280160" cy="118872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AFD9A53-5225-4287-9D9F-589F615A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296" y="2075688"/>
            <a:ext cx="1097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Local PC</a:t>
            </a:r>
            <a:endParaRPr sz="11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94DDA0F-DA47-4A31-B8D9-8137A330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296" y="2331720"/>
            <a:ext cx="10972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8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Windows</a:t>
            </a:r>
            <a:endParaRPr sz="85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8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RTX 3080</a:t>
            </a:r>
            <a:endParaRPr sz="8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545AC45-B471-4848-BCB2-C9080DA0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296" y="2843784"/>
            <a:ext cx="11338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→ 데이터셋 생성</a:t>
            </a:r>
            <a:endParaRPr sz="8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8D4A971-D3B8-4875-8097-321D4F63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560320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66CC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09A1283-96A9-4DB3-B6F9-4FA5A195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1965960"/>
            <a:ext cx="1280160" cy="118872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702545E-98BF-4FB0-ACDC-423F21DE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344" y="2075688"/>
            <a:ext cx="1097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Local SSD</a:t>
            </a:r>
            <a:endParaRPr sz="11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11A3040-210F-44CA-B10B-5ACB4EB9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344" y="2331720"/>
            <a:ext cx="10972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8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episode 단위</a:t>
            </a:r>
            <a:endParaRPr sz="85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8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로컬 저장</a:t>
            </a:r>
            <a:endParaRPr sz="8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B2087D6-AA18-4F19-AA36-57A6D3F0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344" y="2843784"/>
            <a:ext cx="11338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→ 주기적 업로드</a:t>
            </a:r>
            <a:endParaRPr sz="8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E83372B8-39FB-4C3B-999C-A3C90753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8" y="256032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66CC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456EA14D-B646-4C34-B234-97C21691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965960"/>
            <a:ext cx="1463040" cy="118872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D7B2C95-E622-459E-BC9E-A65AE404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568" y="2075688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NAVER Cloud</a:t>
            </a:r>
            <a:endParaRPr sz="11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4412DD9-88DE-4F7A-A2A6-FA9E74EB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568" y="2331720"/>
            <a:ext cx="1280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8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Object Storage</a:t>
            </a:r>
            <a:endParaRPr sz="85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8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데이터 보관 · 공유</a:t>
            </a:r>
            <a:endParaRPr sz="8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BFCCF2B1-8902-4A30-8AB6-DA9995A9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568" y="2843784"/>
            <a:ext cx="131673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→ 학습 시 다운로드 · 캐시</a:t>
            </a:r>
            <a:endParaRPr sz="80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0201E2D0-2CEF-437B-9158-23B7B0A8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560320"/>
            <a:ext cx="4663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66CC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3F22FE58-4961-4AE4-ADE6-EDE97390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1965960"/>
            <a:ext cx="1170432" cy="118872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8C83DAF0-26C8-4FE1-B230-CF33FF7A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2075688"/>
            <a:ext cx="98755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B200 Server</a:t>
            </a:r>
            <a:endParaRPr sz="11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B26F9CD9-6BB4-4A94-9EC8-4BE0EA32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2331720"/>
            <a:ext cx="98755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8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NVIDIA B200</a:t>
            </a:r>
            <a:endParaRPr sz="85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8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데이터 캐시</a:t>
            </a:r>
            <a:endParaRPr sz="85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6442C25-9E39-4007-8E3A-8EF2D65D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2843784"/>
            <a:ext cx="102412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→ Training 실행</a:t>
            </a:r>
            <a:endParaRPr sz="80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C1E79431-0398-4A49-8240-12AAF2B1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560320"/>
            <a:ext cx="182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66CC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35FB9E40-1966-4F29-9E6E-3B98CFE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264" y="1965960"/>
            <a:ext cx="1170432" cy="118872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BADC672-2F8C-4D3C-A78B-F2BACE75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2075688"/>
            <a:ext cx="98755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Training</a:t>
            </a:r>
            <a:endParaRPr sz="11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1D1B0951-6000-4C54-85FD-C3434CC1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2331720"/>
            <a:ext cx="98755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8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ACT · SmolVLA</a:t>
            </a:r>
            <a:endParaRPr sz="85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8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VLA</a:t>
            </a:r>
            <a:endParaRPr sz="85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7007E112-2657-4F84-9881-CCE10B93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2843784"/>
            <a:ext cx="102412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→ Task별 · 통합</a:t>
            </a:r>
            <a:endParaRPr sz="80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EC9EA363-8B85-4FF7-9F02-B53F583C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128" y="2560320"/>
            <a:ext cx="182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66CC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CFA90EE2-03C5-4495-A3AC-D1F9A6C1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1965960"/>
            <a:ext cx="1170432" cy="118872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6474F7ED-117F-4C6A-94B0-F60A28F5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8168" y="2075688"/>
            <a:ext cx="98755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Checkpoint</a:t>
            </a:r>
            <a:endParaRPr sz="110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8FC99F78-A1AC-42B8-AC2A-9B9889C1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8168" y="2331720"/>
            <a:ext cx="98755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8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학습된</a:t>
            </a:r>
            <a:endParaRPr sz="85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8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정책 가중치</a:t>
            </a:r>
            <a:endParaRPr sz="85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1C795254-0154-420D-84EF-FF75867C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8168" y="2843784"/>
            <a:ext cx="102412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→ Inference 배포</a:t>
            </a:r>
            <a:endParaRPr sz="80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35862C49-025E-428F-9296-0C4ABE12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656" y="3154680"/>
            <a:ext cx="0" cy="4846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66CC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DBBB21FE-4131-4925-918F-CA006053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39312"/>
            <a:ext cx="95920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66CC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12424809-5A72-485E-B579-31BB7826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71600" y="3154680"/>
            <a:ext cx="0" cy="4846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66CC"/>
            </a:solidFill>
            <a:prstDash val="dash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F495770A-E860-41E5-A6AA-6118294D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502152"/>
            <a:ext cx="324612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4B1B9B58-0E44-4677-86AB-5929DA6B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502152"/>
            <a:ext cx="3246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SO-101 Inference  ·  checkpoint로 실제 로봇 제어</a:t>
            </a:r>
            <a:endParaRPr sz="90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44119496-77C3-4DD3-8D60-08A62EDF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41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TASK 문장 기록</a:t>
            </a:r>
            <a:endParaRPr sz="130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ADA45499-190A-40D6-A3B2-8FD2E8E7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078224"/>
            <a:ext cx="4389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각 episode에 자연어 task 문장을 함께 저장 → task_index로 자동 연결</a:t>
            </a:r>
            <a:endParaRPr sz="950"/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D75D2C69-5760-4CCC-A794-31F0D62F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86868B"/>
                </a:solidFill>
                <a:latin typeface="Malgun Gothic"/>
                <a:ea typeface="Malgun Gothic"/>
                <a:cs typeface="Malgun Gothic"/>
              </a:rPr>
              <a:t>index</a:t>
            </a:r>
            <a:endParaRPr sz="800"/>
          </a:p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E54753CF-E234-4A00-8D46-50173230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389120"/>
            <a:ext cx="2743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6868B"/>
                </a:solidFill>
                <a:latin typeface="Malgun Gothic"/>
                <a:ea typeface="Malgun Gothic"/>
                <a:cs typeface="Malgun Gothic"/>
              </a:rPr>
              <a:t>task</a:t>
            </a:r>
            <a:endParaRPr sz="800"/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8825A1C3-4B09-44F7-9CEA-CFD46E8B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389120"/>
            <a:ext cx="1463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86868B"/>
                </a:solidFill>
                <a:latin typeface="Malgun Gothic"/>
                <a:ea typeface="Malgun Gothic"/>
                <a:cs typeface="Malgun Gothic"/>
              </a:rPr>
              <a:t>구분</a:t>
            </a:r>
            <a:endParaRPr sz="800"/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06BC83F9-B394-4E2A-B0CF-C84C2731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90288"/>
            <a:ext cx="5897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A371D25B-07DD-4D58-8356-99D37F7C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90288"/>
            <a:ext cx="54864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6CC"/>
                </a:solidFill>
                <a:latin typeface="Consolas"/>
                <a:ea typeface="Consolas"/>
                <a:cs typeface="Consolas"/>
              </a:rPr>
              <a:t>0</a:t>
            </a:r>
            <a:endParaRPr sz="1050"/>
          </a:p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FDFE4000-9940-4AFB-AA9A-2A04EA34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590288"/>
            <a:ext cx="384048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D1D1F"/>
                </a:solidFill>
                <a:latin typeface="Consolas"/>
                <a:ea typeface="Consolas"/>
                <a:cs typeface="Consolas"/>
              </a:rPr>
              <a:t>"Pick up the doll and place it in the container."</a:t>
            </a:r>
            <a:endParaRPr sz="850"/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61C749C8-7735-41A1-A338-494333DB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631436"/>
            <a:ext cx="1463040" cy="20116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12700">
            <a:solidFill>
              <a:srgbClr val="E8F1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5C148989-6ACC-4B3A-AD9F-CB45786C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631436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Pick &amp; Place</a:t>
            </a:r>
            <a:endParaRPr sz="800"/>
          </a:p>
        </p:txBody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642F1480-25EC-4F64-A1B4-86E1A082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73752"/>
            <a:ext cx="5897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Text 61">
            <a:extLst xmlns:a="http://schemas.openxmlformats.org/drawingml/2006/main">
              <a:ext uri="{FF2B5EF4-FFF2-40B4-BE49-F238E27FC236}">
                <a16:creationId xmlns:a16="http://schemas.microsoft.com/office/drawing/2014/main" id="{100B49A1-C8B3-4B66-A59D-D4F18A86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73752"/>
            <a:ext cx="54864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6CC"/>
                </a:solidFill>
                <a:latin typeface="Consolas"/>
                <a:ea typeface="Consolas"/>
                <a:cs typeface="Consolas"/>
              </a:rPr>
              <a:t>1</a:t>
            </a:r>
            <a:endParaRPr sz="1050"/>
          </a:p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883CF21D-565A-4294-9D58-37A8D32A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873752"/>
            <a:ext cx="384048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D1D1F"/>
                </a:solidFill>
                <a:latin typeface="Consolas"/>
                <a:ea typeface="Consolas"/>
                <a:cs typeface="Consolas"/>
              </a:rPr>
              <a:t>"Pick up the paper cup and place it in the container."</a:t>
            </a:r>
            <a:endParaRPr sz="850"/>
          </a:p>
        </p:txBody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F45F7085-860E-4210-8FEB-5510B153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914900"/>
            <a:ext cx="1463040" cy="20116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12700">
            <a:solidFill>
              <a:srgbClr val="E8F1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71596DC8-9558-4C58-A4E2-6A0309A2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914900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Pick &amp; Place</a:t>
            </a:r>
            <a:endParaRPr sz="800"/>
          </a:p>
        </p:txBody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BBC382DA-3775-4275-B2C0-D3C7D1F7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57216"/>
            <a:ext cx="5897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B8E5AEB6-05FC-45D7-9424-B2B8CE59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57216"/>
            <a:ext cx="54864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6CC"/>
                </a:solidFill>
                <a:latin typeface="Consolas"/>
                <a:ea typeface="Consolas"/>
                <a:cs typeface="Consolas"/>
              </a:rPr>
              <a:t>2</a:t>
            </a:r>
            <a:endParaRPr sz="1050"/>
          </a:p>
        </p:txBody>
      </p:sp>
      <p:sp>
        <p:nvSpPr>
          <p:cNvPr id="69" name="Text 67">
            <a:extLst xmlns:a="http://schemas.openxmlformats.org/drawingml/2006/main">
              <a:ext uri="{FF2B5EF4-FFF2-40B4-BE49-F238E27FC236}">
                <a16:creationId xmlns:a16="http://schemas.microsoft.com/office/drawing/2014/main" id="{C359E850-817F-40EF-BCA3-819EDE3D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157216"/>
            <a:ext cx="384048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D1D1F"/>
                </a:solidFill>
                <a:latin typeface="Consolas"/>
                <a:ea typeface="Consolas"/>
                <a:cs typeface="Consolas"/>
              </a:rPr>
              <a:t>"Sort the doll and the paper cup into their containers."</a:t>
            </a:r>
            <a:endParaRPr sz="850"/>
          </a:p>
        </p:txBody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DC909500-91BB-4278-A942-834939B9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5198364"/>
            <a:ext cx="1463040" cy="20116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EFB"/>
          </a:solidFill>
          <a:ln xmlns:a="http://schemas.openxmlformats.org/drawingml/2006/main" w="12700">
            <a:solidFill>
              <a:srgbClr val="EEEE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1" name="Text 69">
            <a:extLst xmlns:a="http://schemas.openxmlformats.org/drawingml/2006/main">
              <a:ext uri="{FF2B5EF4-FFF2-40B4-BE49-F238E27FC236}">
                <a16:creationId xmlns:a16="http://schemas.microsoft.com/office/drawing/2014/main" id="{B775793C-04B6-40CF-B95D-720C9003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5198364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5856D6"/>
                </a:solidFill>
                <a:latin typeface="Malgun Gothic"/>
                <a:ea typeface="Malgun Gothic"/>
                <a:cs typeface="Malgun Gothic"/>
              </a:rPr>
              <a:t>Sorting</a:t>
            </a:r>
            <a:endParaRPr sz="800"/>
          </a:p>
        </p:txBody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CF5BE2AB-A4BC-4BB0-8A7B-49BF1997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40680"/>
            <a:ext cx="5897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3" name="Text 71">
            <a:extLst xmlns:a="http://schemas.openxmlformats.org/drawingml/2006/main">
              <a:ext uri="{FF2B5EF4-FFF2-40B4-BE49-F238E27FC236}">
                <a16:creationId xmlns:a16="http://schemas.microsoft.com/office/drawing/2014/main" id="{371A7A1D-FDD9-4736-A452-861A3581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40680"/>
            <a:ext cx="54864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6CC"/>
                </a:solidFill>
                <a:latin typeface="Consolas"/>
                <a:ea typeface="Consolas"/>
                <a:cs typeface="Consolas"/>
              </a:rPr>
              <a:t>3</a:t>
            </a:r>
            <a:endParaRPr sz="1050"/>
          </a:p>
        </p:txBody>
      </p:sp>
      <p:sp>
        <p:nvSpPr>
          <p:cNvPr id="74" name="Text 72">
            <a:extLst xmlns:a="http://schemas.openxmlformats.org/drawingml/2006/main">
              <a:ext uri="{FF2B5EF4-FFF2-40B4-BE49-F238E27FC236}">
                <a16:creationId xmlns:a16="http://schemas.microsoft.com/office/drawing/2014/main" id="{A9D02F27-626E-4260-AAA5-EECF30B5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440680"/>
            <a:ext cx="384048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D1D1F"/>
                </a:solidFill>
                <a:latin typeface="Consolas"/>
                <a:ea typeface="Consolas"/>
                <a:cs typeface="Consolas"/>
              </a:rPr>
              <a:t>"Stack two boxes."</a:t>
            </a:r>
            <a:endParaRPr sz="850"/>
          </a:p>
        </p:txBody>
      </p:sp>
      <p:sp>
        <p:nvSpPr>
          <p:cNvPr id="75" name="Shape 73">
            <a:extLst xmlns:a="http://schemas.openxmlformats.org/drawingml/2006/main">
              <a:ext uri="{FF2B5EF4-FFF2-40B4-BE49-F238E27FC236}">
                <a16:creationId xmlns:a16="http://schemas.microsoft.com/office/drawing/2014/main" id="{37CA34F9-7A00-4921-88C3-178ECD16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5481828"/>
            <a:ext cx="1463040" cy="20116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4EB"/>
          </a:solidFill>
          <a:ln xmlns:a="http://schemas.openxmlformats.org/drawingml/2006/main" w="12700">
            <a:solidFill>
              <a:srgbClr val="E8F4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" name="Text 74">
            <a:extLst xmlns:a="http://schemas.openxmlformats.org/drawingml/2006/main">
              <a:ext uri="{FF2B5EF4-FFF2-40B4-BE49-F238E27FC236}">
                <a16:creationId xmlns:a16="http://schemas.microsoft.com/office/drawing/2014/main" id="{C2D1BCCF-FACB-4A81-B903-E9B8C5A6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5481828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248A3D"/>
                </a:solidFill>
                <a:latin typeface="Malgun Gothic"/>
                <a:ea typeface="Malgun Gothic"/>
                <a:cs typeface="Malgun Gothic"/>
              </a:rPr>
              <a:t>Stacking</a:t>
            </a:r>
            <a:endParaRPr sz="800"/>
          </a:p>
        </p:txBody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DB70E68B-507A-4D7E-A9FF-72BE0C12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24144"/>
            <a:ext cx="5897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8" name="Text 76">
            <a:extLst xmlns:a="http://schemas.openxmlformats.org/drawingml/2006/main">
              <a:ext uri="{FF2B5EF4-FFF2-40B4-BE49-F238E27FC236}">
                <a16:creationId xmlns:a16="http://schemas.microsoft.com/office/drawing/2014/main" id="{B1816E3F-5217-4E22-99B2-4AE2C658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24144"/>
            <a:ext cx="54864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6CC"/>
                </a:solidFill>
                <a:latin typeface="Consolas"/>
                <a:ea typeface="Consolas"/>
                <a:cs typeface="Consolas"/>
              </a:rPr>
              <a:t>4</a:t>
            </a:r>
            <a:endParaRPr sz="1050"/>
          </a:p>
        </p:txBody>
      </p:sp>
      <p:sp>
        <p:nvSpPr>
          <p:cNvPr id="79" name="Text 77">
            <a:extLst xmlns:a="http://schemas.openxmlformats.org/drawingml/2006/main">
              <a:ext uri="{FF2B5EF4-FFF2-40B4-BE49-F238E27FC236}">
                <a16:creationId xmlns:a16="http://schemas.microsoft.com/office/drawing/2014/main" id="{0E930964-7586-4C56-8101-94F05BC7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724144"/>
            <a:ext cx="384048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D1D1F"/>
                </a:solidFill>
                <a:latin typeface="Consolas"/>
                <a:ea typeface="Consolas"/>
                <a:cs typeface="Consolas"/>
              </a:rPr>
              <a:t>"Stack three boxes."</a:t>
            </a:r>
            <a:endParaRPr sz="850"/>
          </a:p>
        </p:txBody>
      </p:sp>
      <p:sp>
        <p:nvSpPr>
          <p:cNvPr id="80" name="Shape 78">
            <a:extLst xmlns:a="http://schemas.openxmlformats.org/drawingml/2006/main">
              <a:ext uri="{FF2B5EF4-FFF2-40B4-BE49-F238E27FC236}">
                <a16:creationId xmlns:a16="http://schemas.microsoft.com/office/drawing/2014/main" id="{A0C1D2A7-E31A-49B2-9E12-B2825A03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5765292"/>
            <a:ext cx="1463040" cy="20116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4EB"/>
          </a:solidFill>
          <a:ln xmlns:a="http://schemas.openxmlformats.org/drawingml/2006/main" w="12700">
            <a:solidFill>
              <a:srgbClr val="E8F4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1" name="Text 79">
            <a:extLst xmlns:a="http://schemas.openxmlformats.org/drawingml/2006/main">
              <a:ext uri="{FF2B5EF4-FFF2-40B4-BE49-F238E27FC236}">
                <a16:creationId xmlns:a16="http://schemas.microsoft.com/office/drawing/2014/main" id="{700042E2-F0DB-40B9-B502-3757EC40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5765292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248A3D"/>
                </a:solidFill>
                <a:latin typeface="Malgun Gothic"/>
                <a:ea typeface="Malgun Gothic"/>
                <a:cs typeface="Malgun Gothic"/>
              </a:rPr>
              <a:t>Stacking</a:t>
            </a:r>
            <a:endParaRPr sz="800"/>
          </a:p>
        </p:txBody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BD41B33E-CB57-4FD5-8AF9-02B8D84C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07608"/>
            <a:ext cx="5897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3" name="Text 81">
            <a:extLst xmlns:a="http://schemas.openxmlformats.org/drawingml/2006/main">
              <a:ext uri="{FF2B5EF4-FFF2-40B4-BE49-F238E27FC236}">
                <a16:creationId xmlns:a16="http://schemas.microsoft.com/office/drawing/2014/main" id="{A73CC66B-D3E1-4FAD-A23D-9426A521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07608"/>
            <a:ext cx="54864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6CC"/>
                </a:solidFill>
                <a:latin typeface="Consolas"/>
                <a:ea typeface="Consolas"/>
                <a:cs typeface="Consolas"/>
              </a:rPr>
              <a:t>5</a:t>
            </a:r>
            <a:endParaRPr sz="1050"/>
          </a:p>
        </p:txBody>
      </p:sp>
      <p:sp>
        <p:nvSpPr>
          <p:cNvPr id="84" name="Text 82">
            <a:extLst xmlns:a="http://schemas.openxmlformats.org/drawingml/2006/main">
              <a:ext uri="{FF2B5EF4-FFF2-40B4-BE49-F238E27FC236}">
                <a16:creationId xmlns:a16="http://schemas.microsoft.com/office/drawing/2014/main" id="{7343B62D-34C4-4BA3-B9C8-CB1072D5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6007608"/>
            <a:ext cx="384048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D1D1F"/>
                </a:solidFill>
                <a:latin typeface="Consolas"/>
                <a:ea typeface="Consolas"/>
                <a:cs typeface="Consolas"/>
              </a:rPr>
              <a:t>"Stack four boxes."</a:t>
            </a:r>
            <a:endParaRPr sz="850"/>
          </a:p>
        </p:txBody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57BF51D0-B138-4AB3-951E-5A4B56D6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6048756"/>
            <a:ext cx="1463040" cy="20116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4EB"/>
          </a:solidFill>
          <a:ln xmlns:a="http://schemas.openxmlformats.org/drawingml/2006/main" w="12700">
            <a:solidFill>
              <a:srgbClr val="E8F4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6" name="Text 84">
            <a:extLst xmlns:a="http://schemas.openxmlformats.org/drawingml/2006/main">
              <a:ext uri="{FF2B5EF4-FFF2-40B4-BE49-F238E27FC236}">
                <a16:creationId xmlns:a16="http://schemas.microsoft.com/office/drawing/2014/main" id="{44872614-E2F2-47B1-9F71-AC9CFBF8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6048756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248A3D"/>
                </a:solidFill>
                <a:latin typeface="Malgun Gothic"/>
                <a:ea typeface="Malgun Gothic"/>
                <a:cs typeface="Malgun Gothic"/>
              </a:rPr>
              <a:t>Stacking</a:t>
            </a:r>
            <a:endParaRPr sz="800"/>
          </a:p>
        </p:txBody>
      </p:sp>
      <p:sp>
        <p:nvSpPr>
          <p:cNvPr id="87" name="Shape 85">
            <a:extLst xmlns:a="http://schemas.openxmlformats.org/drawingml/2006/main">
              <a:ext uri="{FF2B5EF4-FFF2-40B4-BE49-F238E27FC236}">
                <a16:creationId xmlns:a16="http://schemas.microsoft.com/office/drawing/2014/main" id="{7C7E5B09-8965-4827-BDFF-EECEE6C1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91072"/>
            <a:ext cx="5897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A9DC9982-E340-44C8-991B-5CA7B1B9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059936"/>
            <a:ext cx="2368296" cy="173736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F5F5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9" name="Text 87">
            <a:extLst xmlns:a="http://schemas.openxmlformats.org/drawingml/2006/main">
              <a:ext uri="{FF2B5EF4-FFF2-40B4-BE49-F238E27FC236}">
                <a16:creationId xmlns:a16="http://schemas.microsoft.com/office/drawing/2014/main" id="{3DAD3861-A6FF-4FFB-AE51-0BDAF187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206240"/>
            <a:ext cx="200253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ACT</a:t>
            </a:r>
            <a:endParaRPr sz="1600"/>
          </a:p>
        </p:txBody>
      </p:sp>
      <p:sp>
        <p:nvSpPr>
          <p:cNvPr id="90" name="Shape 88">
            <a:extLst xmlns:a="http://schemas.openxmlformats.org/drawingml/2006/main">
              <a:ext uri="{FF2B5EF4-FFF2-40B4-BE49-F238E27FC236}">
                <a16:creationId xmlns:a16="http://schemas.microsoft.com/office/drawing/2014/main" id="{EDB93255-558F-421D-B9FF-182FCBA8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562856"/>
            <a:ext cx="1005840" cy="21945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1" name="Text 89">
            <a:extLst xmlns:a="http://schemas.openxmlformats.org/drawingml/2006/main">
              <a:ext uri="{FF2B5EF4-FFF2-40B4-BE49-F238E27FC236}">
                <a16:creationId xmlns:a16="http://schemas.microsoft.com/office/drawing/2014/main" id="{849BC5FF-CDA5-4680-8BCB-6A72EAC2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562856"/>
            <a:ext cx="10058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언어 입력 없음</a:t>
            </a:r>
            <a:endParaRPr sz="800"/>
          </a:p>
        </p:txBody>
      </p:sp>
      <p:sp>
        <p:nvSpPr>
          <p:cNvPr id="92" name="Text 90">
            <a:extLst xmlns:a="http://schemas.openxmlformats.org/drawingml/2006/main">
              <a:ext uri="{FF2B5EF4-FFF2-40B4-BE49-F238E27FC236}">
                <a16:creationId xmlns:a16="http://schemas.microsoft.com/office/drawing/2014/main" id="{4552C5FC-8AEB-495D-8D99-FDD756DE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901184"/>
            <a:ext cx="20939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95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task_index로 episode를 골라</a:t>
            </a:r>
            <a:endParaRPr sz="95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95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Task별로 따로 학습</a:t>
            </a:r>
            <a:endParaRPr sz="950"/>
          </a:p>
        </p:txBody>
      </p:sp>
      <p:sp>
        <p:nvSpPr>
          <p:cNvPr id="93" name="Text 91">
            <a:extLst xmlns:a="http://schemas.openxmlformats.org/drawingml/2006/main">
              <a:ext uri="{FF2B5EF4-FFF2-40B4-BE49-F238E27FC236}">
                <a16:creationId xmlns:a16="http://schemas.microsoft.com/office/drawing/2014/main" id="{003A4183-432B-4FCF-97D4-EC8F1629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5321808"/>
            <a:ext cx="20939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Pick &amp; Place · Sorting · Stacking</a:t>
            </a:r>
            <a:endParaRPr sz="9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각각 baseline 모델</a:t>
            </a:r>
            <a:endParaRPr sz="900"/>
          </a:p>
        </p:txBody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0D629CE4-E887-4F56-A099-3F411D79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4059936"/>
            <a:ext cx="2368296" cy="173736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12700">
            <a:solidFill>
              <a:srgbClr val="E8F1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5" name="Text 93">
            <a:extLst xmlns:a="http://schemas.openxmlformats.org/drawingml/2006/main">
              <a:ext uri="{FF2B5EF4-FFF2-40B4-BE49-F238E27FC236}">
                <a16:creationId xmlns:a16="http://schemas.microsoft.com/office/drawing/2014/main" id="{8745F95A-F983-4892-BCEA-6FDB6B2D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896" y="4206240"/>
            <a:ext cx="200253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SmolVLA</a:t>
            </a:r>
            <a:endParaRPr sz="1600"/>
          </a:p>
        </p:txBody>
      </p:sp>
      <p:sp>
        <p:nvSpPr>
          <p:cNvPr id="96" name="Shape 94">
            <a:extLst xmlns:a="http://schemas.openxmlformats.org/drawingml/2006/main">
              <a:ext uri="{FF2B5EF4-FFF2-40B4-BE49-F238E27FC236}">
                <a16:creationId xmlns:a16="http://schemas.microsoft.com/office/drawing/2014/main" id="{9EF4DF38-2C2C-484E-A18D-0977D311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896" y="4562856"/>
            <a:ext cx="1280160" cy="21945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7" name="Text 95">
            <a:extLst xmlns:a="http://schemas.openxmlformats.org/drawingml/2006/main">
              <a:ext uri="{FF2B5EF4-FFF2-40B4-BE49-F238E27FC236}">
                <a16:creationId xmlns:a16="http://schemas.microsoft.com/office/drawing/2014/main" id="{D773653F-E3FE-4D06-B9DC-C0655555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896" y="4562856"/>
            <a:ext cx="1280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문장을 입력으로 사용</a:t>
            </a:r>
            <a:endParaRPr sz="800"/>
          </a:p>
        </p:txBody>
      </p:sp>
      <p:sp>
        <p:nvSpPr>
          <p:cNvPr id="98" name="Text 96">
            <a:extLst xmlns:a="http://schemas.openxmlformats.org/drawingml/2006/main">
              <a:ext uri="{FF2B5EF4-FFF2-40B4-BE49-F238E27FC236}">
                <a16:creationId xmlns:a16="http://schemas.microsoft.com/office/drawing/2014/main" id="{C1003118-8D7C-4775-AC9D-FDB55FDE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896" y="4901184"/>
            <a:ext cx="20939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95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6개 문장 전체를 한 모델로</a:t>
            </a:r>
            <a:endParaRPr sz="95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95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통합 학습</a:t>
            </a:r>
            <a:endParaRPr sz="950"/>
          </a:p>
        </p:txBody>
      </p:sp>
      <p:sp>
        <p:nvSpPr>
          <p:cNvPr id="99" name="Text 97">
            <a:extLst xmlns:a="http://schemas.openxmlformats.org/drawingml/2006/main">
              <a:ext uri="{FF2B5EF4-FFF2-40B4-BE49-F238E27FC236}">
                <a16:creationId xmlns:a16="http://schemas.microsoft.com/office/drawing/2014/main" id="{AB1D5522-8780-4B2F-A195-59E8980F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896" y="5321808"/>
            <a:ext cx="20939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추론 시 문장으로 작업 지정</a:t>
            </a:r>
            <a:endParaRPr sz="9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"Stack three boxes."</a:t>
            </a:r>
            <a:endParaRPr sz="900"/>
          </a:p>
        </p:txBody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C4864738-F118-446E-B28B-FC0BFEDD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5888736"/>
            <a:ext cx="4919472" cy="402336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CEFE6"/>
          </a:solidFill>
          <a:ln xmlns:a="http://schemas.openxmlformats.org/drawingml/2006/main" w="12700">
            <a:solidFill>
              <a:srgbClr val="FCEF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1" name="Text 99">
            <a:extLst xmlns:a="http://schemas.openxmlformats.org/drawingml/2006/main">
              <a:ext uri="{FF2B5EF4-FFF2-40B4-BE49-F238E27FC236}">
                <a16:creationId xmlns:a16="http://schemas.microsoft.com/office/drawing/2014/main" id="{90DE029D-8E07-4C4B-B63C-FCF074CB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2" y="5888736"/>
            <a:ext cx="464515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C4520F"/>
                </a:solidFill>
                <a:latin typeface="Malgun Gothic"/>
                <a:ea typeface="Malgun Gothic"/>
                <a:cs typeface="Malgun Gothic"/>
              </a:rPr>
              <a:t>기록 규칙  </a:t>
            </a:r>
            <a:r>
              <a:rPr sz="9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고정된 문장 목록에서만 선택 — 표현이 조금만 달라도 다른 task로 저장됨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137240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80C665-144C-4395-A80C-7A0D07FF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7CEED-6874-410E-A4C9-4198B974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5E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875E1"/>
                </a:solidFill>
                <a:latin typeface="Malgun Gothic"/>
                <a:ea typeface="Malgun Gothic"/>
                <a:cs typeface="Malgun Gothic"/>
              </a:rPr>
              <a:t>DATA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FE124-7685-436B-8B20-0EBE0A1A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25개 에피소드 영상 검수 결과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DDAD8-286C-4020-9D44-3C2FD773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70432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TOP · SIDE · depth 영상 75개가 수치 데이터와 동일한 프레임 수로 저장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E632E-E822-4DFF-AD56-A123A485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32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324A"/>
                </a:solidFill>
                <a:latin typeface="Malgun Gothic"/>
                <a:ea typeface="Malgun Gothic"/>
                <a:cs typeface="Malgun Gothic"/>
              </a:rPr>
              <a:t>START FRAMES · EPISODE 0–24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7ADDA-13D5-4373-813F-09F08C22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324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324A"/>
                </a:solidFill>
                <a:latin typeface="Malgun Gothic"/>
                <a:ea typeface="Malgun Gothic"/>
                <a:cs typeface="Malgun Gothic"/>
              </a:rPr>
              <a:t>END FRAMES · EPISODE 0–24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ee0da46e74999"/>
          <a:stretch xmlns:a="http://schemas.openxmlformats.org/drawingml/2006/main"/>
        </p:blipFill>
        <p:spPr>
          <a:xfrm xmlns:a="http://schemas.openxmlformats.org/drawingml/2006/main">
            <a:off x="1040765" y="1857375"/>
            <a:ext cx="4445000" cy="333375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bd913062f94d5d"/>
          <a:stretch xmlns:a="http://schemas.openxmlformats.org/drawingml/2006/main"/>
        </p:blipFill>
        <p:spPr>
          <a:xfrm xmlns:a="http://schemas.openxmlformats.org/drawingml/2006/main">
            <a:off x="6683375" y="1857375"/>
            <a:ext cx="4445000" cy="333375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F5BDE-3C7A-4907-BD34-502C0231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81625"/>
            <a:ext cx="2028825" cy="733425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2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720E1-7EEF-4754-9530-3F4F6C94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" y="54578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875E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5E1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8A4621-648D-4F45-9D7E-E50A0297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" y="5781675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EPISODES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A7F3A0-194C-4D58-BAD9-00003F26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013" y="5381625"/>
            <a:ext cx="2028825" cy="733425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6DA1FB-5977-4EB7-A9E6-3F92C4D6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363" y="54578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875E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5E1"/>
                </a:solidFill>
                <a:latin typeface="Malgun Gothic"/>
                <a:ea typeface="Malgun Gothic"/>
                <a:cs typeface="Malgun Gothic"/>
              </a:rPr>
              <a:t>13,647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E7FA6-9127-41FF-B9A0-925092C7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363" y="5781675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FRAMES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0D0E40-DF5A-47AB-93A8-CDC633E3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385" y="5381625"/>
            <a:ext cx="2028825" cy="733425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2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18191E-CCF4-4567-9721-DD9A3AC5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735" y="54578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875E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5E1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107147-14F5-439D-AE32-96336002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735" y="5781675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FPS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7E8AC-6408-487D-9DFB-A8BBA4E7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3758" y="5381625"/>
            <a:ext cx="2028825" cy="733425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2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AFDB1A-F9C8-4AAF-85C7-C4ADB984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7108" y="54578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875E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5E1"/>
                </a:solidFill>
                <a:latin typeface="Malgun Gothic"/>
                <a:ea typeface="Malgun Gothic"/>
                <a:cs typeface="Malgun Gothic"/>
              </a:rPr>
              <a:t>75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7A0522-6C3B-4297-B5D0-0319E814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7108" y="5781675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VIDEO FILES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F8ED51-8D7C-4141-AF95-274EB6DB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130" y="5381625"/>
            <a:ext cx="2028825" cy="733425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B7E1C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514EEF-891F-4519-A1FF-9E9F597C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54578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6845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6845B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F1742A-73E1-4102-A1B4-340BAE43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5781675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FRAME DROPS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19D7BA-08BB-4202-8C48-63174954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45720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SO-101 · LeRobot Dataset Collection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7C4482-90CB-4C4A-A682-64E3A877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512" y="647395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06 / 07</a:t>
            </a:r>
          </a:p>
        </p:txBody>
      </p:sp>
    </p:spTree>
    <p:extLst>
      <p:ext uri="{BB962C8B-B14F-4D97-AF65-F5344CB8AC3E}">
        <p14:creationId xmlns:p14="http://schemas.microsoft.com/office/powerpoint/2010/main" val="2049241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06FD0E4-6482-42F8-BAC4-7223BE9E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50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COLLECTION STATUS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4C8DF3-E588-4032-ABC2-2ABAAF3D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25개 데모 수집 현황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8B08017-5E95-42C0-88EF-CE10E3CF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70432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RGB-D 구조와 이어쓰기 안정성을 확인했고, 현재 구성으로 데이터 수집을 계속할 수 있습니다.</a:t>
            </a:r>
            <a:endParaRPr sz="13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44A8661-1953-41F0-AC12-D8E99FA4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4572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86868B"/>
                </a:solidFill>
                <a:latin typeface="Malgun Gothic"/>
                <a:ea typeface="Malgun Gothic"/>
                <a:cs typeface="Malgun Gothic"/>
              </a:rPr>
              <a:t>SO-101 · LeRobot Dataset Collection</a:t>
            </a:r>
            <a:endParaRPr sz="8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0A34E9F-4490-4FF2-BCAD-72F3A081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512" y="647395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86868B"/>
                </a:solidFill>
                <a:latin typeface="Malgun Gothic"/>
                <a:ea typeface="Malgun Gothic"/>
                <a:cs typeface="Malgun Gothic"/>
              </a:rPr>
              <a:t>07 / 07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139B991-A3D2-4F7D-AB2A-3E0CAACC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12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일단 7개 찍어봄</a:t>
            </a:r>
            <a:endParaRPr sz="9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56AB932-4E70-4D3F-A586-D6F38B03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75104"/>
            <a:ext cx="3246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26FFD7C-ECE2-432D-9A50-C9976FC4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29968"/>
            <a:ext cx="2011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저장된 episode</a:t>
            </a:r>
            <a:endParaRPr sz="10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3D97ECF-E5E3-4DCC-9DB5-AEE86749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011680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7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F448FF6-F0E3-494E-8D66-8CA56A29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04288"/>
            <a:ext cx="3246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E2A69EA-4BCF-4534-A063-E481F7EC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59152"/>
            <a:ext cx="2011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전체 frame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14C56CB-E25D-4D5A-8E39-271DDD4A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340864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3,951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1AD7BA0-D451-4AFD-AA43-1934207E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33472"/>
            <a:ext cx="3246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BAB8373-C1A5-402C-AE8A-581A2AEC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88336"/>
            <a:ext cx="2011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episode당 평균 frame</a:t>
            </a:r>
            <a:endParaRPr sz="10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20B8966-E517-46E7-9E78-B90D9C0B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670048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564</a:t>
            </a:r>
            <a:endParaRPr sz="12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9521429-DF7D-43AE-9006-24903696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62656"/>
            <a:ext cx="3246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9FEB199-2FA7-43B7-B357-DAD42C66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17520"/>
            <a:ext cx="2011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episode당 평균 시간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BB23367-A2D8-423F-A7D3-0B9B2689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999232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18.8 s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E0AD92D-A5FC-4BF0-A88E-A867C661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3246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EDBA1AD-35FF-497B-8938-3CD9C29D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46704"/>
            <a:ext cx="2011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7개 합쳐서</a:t>
            </a:r>
            <a:endParaRPr sz="10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58FDEF7-9D20-47D9-BD2F-2C4E2831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328416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155.5 MB</a:t>
            </a:r>
            <a:endParaRPr sz="12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C83D0BD-4A2C-4EDC-953A-BB04A78B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21024"/>
            <a:ext cx="3246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D0E4E32-900D-4BAE-A2F3-DE3501E8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75888"/>
            <a:ext cx="2011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1개당 평균 용량</a:t>
            </a:r>
            <a:endParaRPr sz="10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62E1AB4-B350-4EC5-9942-F247E995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657600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22.2 MB</a:t>
            </a:r>
            <a:endParaRPr sz="12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C93C5F9-7283-47A2-9EAB-7DCC5E90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50208"/>
            <a:ext cx="3246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DA52407-032C-4110-9021-524FE0CC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645920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12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계산기 두드려본 과정</a:t>
            </a:r>
            <a:endParaRPr sz="9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C9918A7-F537-4EA2-8988-E2B75167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75104"/>
            <a:ext cx="3429000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F5F5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2E54CBC-4F84-4622-A350-5F7CAF1C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1975104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1개 찍으면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F72E8E1-C835-432B-9AC3-BD6ED3A1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1975104"/>
            <a:ext cx="2103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22.2 MB / episode</a:t>
            </a:r>
            <a:endParaRPr sz="10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19F60E3-F143-4574-806E-A80BF91E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50008"/>
            <a:ext cx="2743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86868B"/>
                </a:solidFill>
                <a:latin typeface="Malgun Gothic"/>
                <a:ea typeface="Malgun Gothic"/>
                <a:cs typeface="Malgun Gothic"/>
              </a:rPr>
              <a:t>↓</a:t>
            </a:r>
            <a:endParaRPr sz="90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BA7546ED-AE58-4C38-B484-45299494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487168"/>
            <a:ext cx="3429000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F5F5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6AD3A8B-3656-48D0-8A8C-4862CCFD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2487168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2 TB 채우려면</a:t>
            </a:r>
            <a:endParaRPr sz="9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DD802B2A-4688-4B92-B31A-7979FCE3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487168"/>
            <a:ext cx="2103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2,000,000 MB ÷ 22.2 MB</a:t>
            </a:r>
            <a:endParaRPr sz="105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CDD4903F-78DE-44DD-9ADA-98D63ED6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62072"/>
            <a:ext cx="2743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86868B"/>
                </a:solidFill>
                <a:latin typeface="Malgun Gothic"/>
                <a:ea typeface="Malgun Gothic"/>
                <a:cs typeface="Malgun Gothic"/>
              </a:rPr>
              <a:t>↓</a:t>
            </a:r>
            <a:endParaRPr sz="90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0B24427E-E2A2-4DBF-A2D9-39EB8DA3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999232"/>
            <a:ext cx="3429000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7924509C-9CC9-4404-B039-698AA89D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2999232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CE9F7"/>
                </a:solidFill>
                <a:latin typeface="Malgun Gothic"/>
                <a:ea typeface="Malgun Gothic"/>
                <a:cs typeface="Malgun Gothic"/>
              </a:rPr>
              <a:t>필요한 개수</a:t>
            </a:r>
            <a:endParaRPr sz="9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2B2C98D8-C8BB-45FA-8CA0-8B5A4095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999232"/>
            <a:ext cx="2103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≈ 90,000 episodes</a:t>
            </a:r>
            <a:endParaRPr sz="105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AFE8412D-FAF1-4886-8F2F-4F9A9BEE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74136"/>
            <a:ext cx="2743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86868B"/>
                </a:solidFill>
                <a:latin typeface="Malgun Gothic"/>
                <a:ea typeface="Malgun Gothic"/>
                <a:cs typeface="Malgun Gothic"/>
              </a:rPr>
              <a:t>↓</a:t>
            </a:r>
            <a:endParaRPr sz="90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4CC58D4F-F6AA-4A48-BB5C-E2038395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511296"/>
            <a:ext cx="3429000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F5F5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D6103E41-7BC2-4719-A1F9-38872694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3511296"/>
            <a:ext cx="1097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Task 3개로 나누면</a:t>
            </a:r>
            <a:endParaRPr sz="90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7756C45B-96B7-4B31-B253-A2C66247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511296"/>
            <a:ext cx="2103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Task당 ≈ 30,000 ㅠ</a:t>
            </a:r>
            <a:endParaRPr sz="105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53E5F778-9088-494D-9543-D199E89C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645920"/>
            <a:ext cx="3685032" cy="2331720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12700">
            <a:solidFill>
              <a:srgbClr val="E8F1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2B933733-DCCD-4123-B118-8406CF15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2880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2 TB를 채우려면요…</a:t>
            </a:r>
            <a:endParaRPr sz="105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F94B2D70-A8D3-4BD8-8255-3C38B629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57400"/>
            <a:ext cx="322783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≈ 90,000</a:t>
            </a:r>
            <a:endParaRPr sz="440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5B5BAA05-26C2-4B23-9D17-C3668332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8920"/>
            <a:ext cx="322783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episodes · 지금 찍은 7개의 약 1.3만 배 (네?)</a:t>
            </a:r>
            <a:endParaRPr sz="105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1BFFD901-E597-4656-A902-DC3027BF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36392"/>
            <a:ext cx="3136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3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B6EE5816-55CF-4AB2-9C5B-91679CAC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46120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1달 반(45일) 동안 매일</a:t>
            </a:r>
            <a:endParaRPr sz="90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36B11316-5126-4217-A632-CB456D75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38144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2,000개</a:t>
            </a:r>
            <a:endParaRPr sz="170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0FF7BF9A-678A-482A-8F19-FB7AE0F7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49040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6868B"/>
                </a:solidFill>
                <a:latin typeface="Malgun Gothic"/>
                <a:ea typeface="Malgun Gothic"/>
                <a:cs typeface="Malgun Gothic"/>
              </a:rPr>
              <a:t>주말 · 밥 · 잠 없이</a:t>
            </a:r>
            <a:endParaRPr sz="800"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16DF781E-E339-4013-859D-E654E0A1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7796" y="3246120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PREP까지 치면 매일</a:t>
            </a:r>
            <a:endParaRPr sz="90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4356B786-195B-4791-8A45-C0E2E147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7796" y="3438144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13.3 h</a:t>
            </a:r>
            <a:endParaRPr sz="170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56D6A3A8-1E03-4A85-8C95-CED386F2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7796" y="3749040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86868B"/>
                </a:solidFill>
                <a:latin typeface="Malgun Gothic"/>
                <a:ea typeface="Malgun Gothic"/>
                <a:cs typeface="Malgun Gothic"/>
              </a:rPr>
              <a:t>실패 0번이라는 가정…</a:t>
            </a:r>
            <a:endParaRPr sz="800"/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70BB6B17-9E8F-4C53-A650-81C96104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33088"/>
            <a:ext cx="11091672" cy="621792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12700">
            <a:solidFill>
              <a:srgbClr val="F5F5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BB28D788-1BAC-449E-BD13-771868E6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33088"/>
            <a:ext cx="39319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3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살려주세요</a:t>
            </a:r>
            <a:endParaRPr sz="1300"/>
          </a:p>
        </p:txBody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25DBA575-D576-448B-9655-F4BC4B55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270248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0B584941-D3F2-4A28-A1BD-16D480AF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989" y="4133088"/>
            <a:ext cx="9335451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심지어  위 용량엔 임시 image 폴더도 들어 있어서, 최종 LeRobot 데이터셋만 치면 1개당 용량이 더 </a:t>
            </a: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작아요</a:t>
            </a: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…. 2 TB 채우려면 개수가 오히려 더 늘어남… 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Sorting · </a:t>
            </a: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Stacking은</a:t>
            </a: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 더 길</a:t>
            </a: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긴 하겠지만</a:t>
            </a:r>
            <a:r>
              <a:rPr sz="90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……</a:t>
            </a:r>
            <a:endParaRPr sz="900"/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8941EFB9-8967-4C40-B35C-8052697D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065776"/>
            <a:ext cx="14828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FEA269CC-5161-48DF-AEBF-F3DB8644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3776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1587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7D4D10AC-4B42-494A-B59A-B1692D68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3776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900"/>
          </a:p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45950727-BF94-419A-A150-8F20A714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66944"/>
            <a:ext cx="17114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Task별 Pilot</a:t>
            </a:r>
            <a:endParaRPr sz="1100"/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F21EBABB-B7C1-4102-AF3D-68ED12A1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04688"/>
            <a:ext cx="17388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8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Task마다 10~30개만 먼저</a:t>
            </a:r>
            <a:endParaRPr sz="850"/>
          </a:p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8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진짜 걸리는 시간 재보기</a:t>
            </a:r>
            <a:endParaRPr sz="850"/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8EAF6669-BCD0-4230-8777-7899C3F6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148" y="5065776"/>
            <a:ext cx="14828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848F2BDC-8CBA-4FD9-97C5-CBFC2B20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252" y="493776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36CD17DC-8ADD-4529-80A2-F19ED872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252" y="493776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900"/>
          </a:p>
        </p:txBody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5DC9B5BC-4B99-4576-B06F-CCE8E41C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252" y="5266944"/>
            <a:ext cx="17114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측정 · 재계산</a:t>
            </a:r>
            <a:endParaRPr sz="1100"/>
          </a:p>
        </p:txBody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BE2EE70C-5531-4988-8D5A-C3119810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252" y="5504688"/>
            <a:ext cx="17388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8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시간·용량·성공률 보고</a:t>
            </a:r>
            <a:endParaRPr sz="850"/>
          </a:p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8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현실적인 개수 다시 계산</a:t>
            </a:r>
            <a:endParaRPr sz="850"/>
          </a:p>
        </p:txBody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392803E0-11D9-451D-91BA-8374C219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6760" y="5065776"/>
            <a:ext cx="14828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4155814F-167E-448B-84CD-122DAB09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864" y="493776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Text 68">
            <a:extLst xmlns:a="http://schemas.openxmlformats.org/drawingml/2006/main">
              <a:ext uri="{FF2B5EF4-FFF2-40B4-BE49-F238E27FC236}">
                <a16:creationId xmlns:a16="http://schemas.microsoft.com/office/drawing/2014/main" id="{E7D84649-9E03-4E03-8389-C2C34B28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864" y="493776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900"/>
          </a:p>
        </p:txBody>
      </p:sp>
      <p:sp>
        <p:nvSpPr>
          <p:cNvPr id="71" name="Text 69">
            <a:extLst xmlns:a="http://schemas.openxmlformats.org/drawingml/2006/main">
              <a:ext uri="{FF2B5EF4-FFF2-40B4-BE49-F238E27FC236}">
                <a16:creationId xmlns:a16="http://schemas.microsoft.com/office/drawing/2014/main" id="{5138E82D-1A73-4030-BD3C-DD584AB0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864" y="5266944"/>
            <a:ext cx="17114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수집 조건 고정</a:t>
            </a:r>
            <a:endParaRPr sz="1100"/>
          </a:p>
        </p:txBody>
      </p:sp>
      <p:sp>
        <p:nvSpPr>
          <p:cNvPr id="72" name="Text 70">
            <a:extLst xmlns:a="http://schemas.openxmlformats.org/drawingml/2006/main">
              <a:ext uri="{FF2B5EF4-FFF2-40B4-BE49-F238E27FC236}">
                <a16:creationId xmlns:a16="http://schemas.microsoft.com/office/drawing/2014/main" id="{E86C3BCB-EAE9-4DD2-87C9-FF39E444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864" y="5504688"/>
            <a:ext cx="17388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8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물체·배치·성공 기준</a:t>
            </a:r>
            <a:endParaRPr sz="850"/>
          </a:p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8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딱 정해두고 반복</a:t>
            </a:r>
            <a:endParaRPr sz="850"/>
          </a:p>
        </p:txBody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53F958BB-0124-4B66-9562-7E52AEB4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372" y="5065776"/>
            <a:ext cx="14828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8C28C6A8-298E-4943-842F-16EC28D2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493776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5" name="Text 73">
            <a:extLst xmlns:a="http://schemas.openxmlformats.org/drawingml/2006/main">
              <a:ext uri="{FF2B5EF4-FFF2-40B4-BE49-F238E27FC236}">
                <a16:creationId xmlns:a16="http://schemas.microsoft.com/office/drawing/2014/main" id="{F9C33856-3311-4915-9787-C9069329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493776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4</a:t>
            </a:r>
            <a:endParaRPr sz="900"/>
          </a:p>
        </p:txBody>
      </p:sp>
      <p:sp>
        <p:nvSpPr>
          <p:cNvPr id="76" name="Text 74">
            <a:extLst xmlns:a="http://schemas.openxmlformats.org/drawingml/2006/main">
              <a:ext uri="{FF2B5EF4-FFF2-40B4-BE49-F238E27FC236}">
                <a16:creationId xmlns:a16="http://schemas.microsoft.com/office/drawing/2014/main" id="{4D6BFE86-8223-49D0-80F3-1A00B907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5266944"/>
            <a:ext cx="17114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대량 수집</a:t>
            </a:r>
            <a:endParaRPr sz="1100"/>
          </a:p>
        </p:txBody>
      </p:sp>
      <p:sp>
        <p:nvSpPr>
          <p:cNvPr id="77" name="Text 75">
            <a:extLst xmlns:a="http://schemas.openxmlformats.org/drawingml/2006/main">
              <a:ext uri="{FF2B5EF4-FFF2-40B4-BE49-F238E27FC236}">
                <a16:creationId xmlns:a16="http://schemas.microsoft.com/office/drawing/2014/main" id="{64BFB99C-CAD0-4A2E-804E-D10E65D8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5504688"/>
            <a:ext cx="17388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8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실패는 과감히 버리고</a:t>
            </a:r>
            <a:endParaRPr sz="850"/>
          </a:p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8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정상 episode만 차곡차곡</a:t>
            </a:r>
            <a:endParaRPr sz="850"/>
          </a:p>
        </p:txBody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3F6BE8BE-8858-4541-A90B-46B97351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984" y="5065776"/>
            <a:ext cx="14828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7A2F825D-9E87-4022-842C-31E96902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088" y="493776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D2D2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0" name="Text 78">
            <a:extLst xmlns:a="http://schemas.openxmlformats.org/drawingml/2006/main">
              <a:ext uri="{FF2B5EF4-FFF2-40B4-BE49-F238E27FC236}">
                <a16:creationId xmlns:a16="http://schemas.microsoft.com/office/drawing/2014/main" id="{EC324482-0293-4387-AA36-82230BD1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088" y="493776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5</a:t>
            </a:r>
            <a:endParaRPr sz="900"/>
          </a:p>
        </p:txBody>
      </p:sp>
      <p:sp>
        <p:nvSpPr>
          <p:cNvPr id="81" name="Text 79">
            <a:extLst xmlns:a="http://schemas.openxmlformats.org/drawingml/2006/main">
              <a:ext uri="{FF2B5EF4-FFF2-40B4-BE49-F238E27FC236}">
                <a16:creationId xmlns:a16="http://schemas.microsoft.com/office/drawing/2014/main" id="{6A1FAF04-2313-429D-8A6D-D3308BEF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088" y="5266944"/>
            <a:ext cx="17114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NAVER Cloud</a:t>
            </a:r>
            <a:endParaRPr sz="1100"/>
          </a:p>
        </p:txBody>
      </p:sp>
      <p:sp>
        <p:nvSpPr>
          <p:cNvPr id="82" name="Text 80">
            <a:extLst xmlns:a="http://schemas.openxmlformats.org/drawingml/2006/main">
              <a:ext uri="{FF2B5EF4-FFF2-40B4-BE49-F238E27FC236}">
                <a16:creationId xmlns:a16="http://schemas.microsoft.com/office/drawing/2014/main" id="{DBFA137A-C873-4AA8-9EAC-F6C7EB3B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088" y="5504688"/>
            <a:ext cx="17388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8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안전하게 올려두고</a:t>
            </a:r>
            <a:endParaRPr sz="850"/>
          </a:p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8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보관 · 공유</a:t>
            </a:r>
            <a:endParaRPr sz="850"/>
          </a:p>
        </p:txBody>
      </p:sp>
      <p:sp>
        <p:nvSpPr>
          <p:cNvPr id="83" name="Shape 81">
            <a:extLst xmlns:a="http://schemas.openxmlformats.org/drawingml/2006/main">
              <a:ext uri="{FF2B5EF4-FFF2-40B4-BE49-F238E27FC236}">
                <a16:creationId xmlns:a16="http://schemas.microsoft.com/office/drawing/2014/main" id="{C2C5BA34-A4A6-45BE-A522-80832E37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93776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1587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4" name="Text 82">
            <a:extLst xmlns:a="http://schemas.openxmlformats.org/drawingml/2006/main">
              <a:ext uri="{FF2B5EF4-FFF2-40B4-BE49-F238E27FC236}">
                <a16:creationId xmlns:a16="http://schemas.microsoft.com/office/drawing/2014/main" id="{6B04FDD5-E5BE-4B4A-AE4B-8D39B6FD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93776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  <a:endParaRPr sz="900"/>
          </a:p>
        </p:txBody>
      </p:sp>
      <p:sp>
        <p:nvSpPr>
          <p:cNvPr id="85" name="Text 83">
            <a:extLst xmlns:a="http://schemas.openxmlformats.org/drawingml/2006/main">
              <a:ext uri="{FF2B5EF4-FFF2-40B4-BE49-F238E27FC236}">
                <a16:creationId xmlns:a16="http://schemas.microsoft.com/office/drawing/2014/main" id="{9BA2B8B6-11FF-488F-B63C-E38AB520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266944"/>
            <a:ext cx="17114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B200 학습</a:t>
            </a:r>
            <a:endParaRPr sz="1100"/>
          </a:p>
        </p:txBody>
      </p:sp>
      <p:sp>
        <p:nvSpPr>
          <p:cNvPr id="86" name="Text 84">
            <a:extLst xmlns:a="http://schemas.openxmlformats.org/drawingml/2006/main">
              <a:ext uri="{FF2B5EF4-FFF2-40B4-BE49-F238E27FC236}">
                <a16:creationId xmlns:a16="http://schemas.microsoft.com/office/drawing/2014/main" id="{545775EE-693A-4BDE-8D68-A1BE19FD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504688"/>
            <a:ext cx="17388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8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ACT: Task별 baseline</a:t>
            </a:r>
            <a:endParaRPr sz="850"/>
          </a:p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85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SmolVLA: 문장 조건 통합</a:t>
            </a:r>
            <a:endParaRPr sz="850"/>
          </a:p>
        </p:txBody>
      </p:sp>
      <p:sp>
        <p:nvSpPr>
          <p:cNvPr id="87" name="Shape 85">
            <a:extLst xmlns:a="http://schemas.openxmlformats.org/drawingml/2006/main">
              <a:ext uri="{FF2B5EF4-FFF2-40B4-BE49-F238E27FC236}">
                <a16:creationId xmlns:a16="http://schemas.microsoft.com/office/drawing/2014/main" id="{0A20CCBA-600B-4062-A3E9-17C5B06B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946904"/>
            <a:ext cx="502920" cy="21945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12700">
            <a:solidFill>
              <a:srgbClr val="E8F1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8" name="Text 86">
            <a:extLst xmlns:a="http://schemas.openxmlformats.org/drawingml/2006/main">
              <a:ext uri="{FF2B5EF4-FFF2-40B4-BE49-F238E27FC236}">
                <a16:creationId xmlns:a16="http://schemas.microsoft.com/office/drawing/2014/main" id="{7491B4B9-6A63-4A83-9FBE-E9E96F61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946904"/>
            <a:ext cx="502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NEXT</a:t>
            </a:r>
            <a:endParaRPr sz="750"/>
          </a:p>
        </p:txBody>
      </p:sp>
      <p:sp>
        <p:nvSpPr>
          <p:cNvPr id="89" name="Shape 87">
            <a:extLst xmlns:a="http://schemas.openxmlformats.org/drawingml/2006/main">
              <a:ext uri="{FF2B5EF4-FFF2-40B4-BE49-F238E27FC236}">
                <a16:creationId xmlns:a16="http://schemas.microsoft.com/office/drawing/2014/main" id="{6F3DD9A0-ECBA-4B50-B3D7-1BAA91B5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53328"/>
            <a:ext cx="11091672" cy="301752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12700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0" name="Text 88">
            <a:extLst xmlns:a="http://schemas.openxmlformats.org/drawingml/2006/main">
              <a:ext uri="{FF2B5EF4-FFF2-40B4-BE49-F238E27FC236}">
                <a16:creationId xmlns:a16="http://schemas.microsoft.com/office/drawing/2014/main" id="{CC0EE3FA-609E-4DCF-A89A-A5018754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053328"/>
            <a:ext cx="106070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CFE2F7"/>
                </a:solidFill>
                <a:latin typeface="Malgun Gothic"/>
                <a:ea typeface="Malgun Gothic"/>
                <a:cs typeface="Malgun Gothic"/>
              </a:rPr>
              <a:t>진짜로</a:t>
            </a:r>
            <a:r>
              <a:rPr sz="1150" b="1">
                <a:solidFill>
                  <a:srgbClr val="CFE2F7"/>
                </a:solidFill>
                <a:latin typeface="Malgun Gothic"/>
                <a:ea typeface="Malgun Gothic"/>
                <a:cs typeface="Malgun Gothic"/>
              </a:rPr>
              <a:t>…. </a:t>
            </a: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한달 </a:t>
            </a: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반만에</a:t>
            </a: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혼자 진짜 </a:t>
            </a: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테라요</a:t>
            </a: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…….?</a:t>
            </a:r>
            <a:endParaRPr sz="1150"/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10D20A0-55BA-4D45-91C1-A73CB081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43050"/>
            <a:ext cx="11287125" cy="481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6F20D50-74DF-4973-9208-9523E6DF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85925"/>
            <a:ext cx="3295650" cy="25908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E01FBB4-9864-4A2D-8734-CD277B3E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383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875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875E1"/>
                </a:solidFill>
                <a:latin typeface="Malgun Gothic"/>
                <a:ea typeface="Malgun Gothic"/>
                <a:cs typeface="Malgun Gothic"/>
              </a:rPr>
              <a:t>CURRENT DATASET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8AAF991-2526-4215-A818-ED36211C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40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저장된 episode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CF91894-4261-4C7C-BFF2-3D917A41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43125"/>
            <a:ext cx="1685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C98397E-1F5C-4BBF-92DF-0161E077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2886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C"/>
          </a:solidFill>
          <a:ln xmlns:a="http://schemas.openxmlformats.org/drawingml/2006/main" w="0">
            <a:solidFill>
              <a:srgbClr val="D8E2EC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D700A6A-0FA0-48FF-BBC2-58F94FBA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140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전체 frame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0C08CB2-BAEB-4572-995B-D809E307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43175"/>
            <a:ext cx="1685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13,647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3BC86EA-F7A9-430A-AA04-647126BE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2886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C"/>
          </a:solidFill>
          <a:ln xmlns:a="http://schemas.openxmlformats.org/drawingml/2006/main" w="0">
            <a:solidFill>
              <a:srgbClr val="D8E2EC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3E61428-54CD-4D6A-A775-E3DA900A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43225"/>
            <a:ext cx="140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episode당 평균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353433B-B12A-4154-A932-2D7362FA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943225"/>
            <a:ext cx="1685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546 frames · 18.2 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E44D3F3-D1CF-4948-9416-2075A5A0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2886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C"/>
          </a:solidFill>
          <a:ln xmlns:a="http://schemas.openxmlformats.org/drawingml/2006/main" w="0">
            <a:solidFill>
              <a:srgbClr val="D8E2EC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B2383D0-EC7E-4985-9C85-EB4418CC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43275"/>
            <a:ext cx="140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전체 데이터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329A166-9240-4272-B5F4-2A559239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43275"/>
            <a:ext cx="1685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2.95 GB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20C12D1-2E87-404B-A2F6-EB22AC32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886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C"/>
          </a:solidFill>
          <a:ln xmlns:a="http://schemas.openxmlformats.org/drawingml/2006/main" w="0">
            <a:solidFill>
              <a:srgbClr val="D8E2EC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00B073A-CC5B-47A0-BD3F-07D04489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43325"/>
            <a:ext cx="140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episode당 평균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2B90817-79C7-4EBC-9A79-229903A4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43325"/>
            <a:ext cx="1685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118.1 MB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346BA16-6D2C-4C5C-949D-74A75E35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85925"/>
            <a:ext cx="3457575" cy="25908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2EC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C6DAE80-7696-48EB-AC47-5622A485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383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324A"/>
                </a:solidFill>
                <a:latin typeface="Malgun Gothic"/>
                <a:ea typeface="Malgun Gothic"/>
                <a:cs typeface="Malgun Gothic"/>
              </a:rPr>
              <a:t>2 TB 저장량 환산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DF8E81E-EE1B-475B-956A-013F57AA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383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 episode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9D2FEB5-8F72-48AE-9177-18B391D9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38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≈ 118.1 MB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7AE1C7F-82BD-40B4-9982-BAB501AF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5747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4748B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2,000,000 MB ÷ 118.1 MB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A896576-916E-4549-94FE-97E6F1E3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00375"/>
            <a:ext cx="2952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1">
                <a:solidFill>
                  <a:srgbClr val="0875E1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0875E1"/>
                </a:solidFill>
                <a:latin typeface="Malgun Gothic"/>
                <a:ea typeface="Malgun Gothic"/>
                <a:cs typeface="Malgun Gothic"/>
              </a:rPr>
              <a:t>≈ 16,900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793655D-853F-472A-9D35-59A99E11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3377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episodes · 현재 25개의 약 676배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20A9BEB-2484-4ABE-8885-58F5A6DE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28C28"/>
                </a:solidFill>
                <a:latin typeface="Malgun Gothic"/>
                <a:ea typeface="Malgun Gothic"/>
                <a:cs typeface="Malgun Gothic"/>
              </a:rPr>
              <a:t>depth가 전체 영상 용량의 약 93%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D220FC1-C5F6-4C0F-8F63-ABFC3B58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685925"/>
            <a:ext cx="3886200" cy="25908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0D4E8C"/>
          </a:solidFill>
          <a:ln xmlns:a="http://schemas.openxmlformats.org/drawingml/2006/main" w="9525">
            <a:solidFill>
              <a:srgbClr val="0D4E8C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886F975-A70F-43D2-BE1E-5820BA92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66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DE0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DE0FF"/>
                </a:solidFill>
                <a:latin typeface="Malgun Gothic"/>
                <a:ea typeface="Malgun Gothic"/>
                <a:cs typeface="Malgun Gothic"/>
              </a:rPr>
              <a:t>VALIDATION RESULT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880819F-DE8E-4472-ABC6-AF57B339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717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25 / 25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E12EBDC-D43D-4669-9A13-EE3BED6B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432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정상 episode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4B4386A-3999-4B27-9886-E18A5A4D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33725"/>
            <a:ext cx="3143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A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EAF5FF"/>
                </a:solidFill>
                <a:latin typeface="Malgun Gothic"/>
                <a:ea typeface="Malgun Gothic"/>
                <a:cs typeface="Malgun Gothic"/>
              </a:rPr>
              <a:t>· TOP / SIDE / depth 프레임 일치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EAF5FF"/>
                </a:solidFill>
                <a:latin typeface="Malgun Gothic"/>
                <a:ea typeface="Malgun Gothic"/>
                <a:cs typeface="Malgun Gothic"/>
              </a:rPr>
              <a:t>· 영상 누락 및 dropped frame 없음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EAF5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EAF5FF"/>
                </a:solidFill>
                <a:latin typeface="Malgun Gothic"/>
                <a:ea typeface="Malgun Gothic"/>
                <a:cs typeface="Malgun Gothic"/>
              </a:rPr>
              <a:t>· 마지막 불완전 episode 정리 완료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132C317-778F-4C2E-B0D4-E737E6BF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67225"/>
            <a:ext cx="1109091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B7E1CE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1798BE6-CF08-4BAF-908B-5FCA35E2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1525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45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845B"/>
                </a:solidFill>
                <a:latin typeface="Malgun Gothic"/>
                <a:ea typeface="Malgun Gothic"/>
                <a:cs typeface="Malgun Gothic"/>
              </a:rPr>
              <a:t>현재 판단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0AF2D2C-5C1C-4B3C-ACFF-5E2D82F1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5815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수집 파이프라인은 정상입니다. 카메라·박스 위치를 고정하고, SIDE 시작 시야만 일정하게 관리하며 계속 수집합니다.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2E3C42D-222A-47F7-99C5-8123F825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86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5E1"/>
          </a:solidFill>
          <a:ln xmlns:a="http://schemas.openxmlformats.org/drawingml/2006/main" w="0">
            <a:solidFill>
              <a:srgbClr val="0875E1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273FA48-EE3A-4A00-A7AC-50C8E84B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86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62E214B-0D24-47BC-9243-F4C6B285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10225"/>
            <a:ext cx="1695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조건 고정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EE46231-93C7-4281-A5C0-4FC8982B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48350"/>
            <a:ext cx="1695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카메라·박스 위치 유지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D194CAF-6E3A-41B5-BA99-81C550D9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443" y="5286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5E1"/>
          </a:solidFill>
          <a:ln xmlns:a="http://schemas.openxmlformats.org/drawingml/2006/main" w="0">
            <a:solidFill>
              <a:srgbClr val="0875E1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741C705-5E38-40E8-A37B-9C723E79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443" y="5286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7DA175A-34CE-4F36-922D-376AFBAD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443" y="5610225"/>
            <a:ext cx="1695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시작 위치 관리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5166107-3075-4D0B-A093-0D7CCCEC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443" y="5848350"/>
            <a:ext cx="1695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빨간 영역 중심으로 통제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0EB5917-206E-432D-8DDA-90C61222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6245" y="5286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5E1"/>
          </a:solidFill>
          <a:ln xmlns:a="http://schemas.openxmlformats.org/drawingml/2006/main" w="0">
            <a:solidFill>
              <a:srgbClr val="0875E1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7A6015C-66E8-4058-AB9E-48F0FF1B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6245" y="5286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98E2FFA-0635-4A87-830A-EA707C7A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6245" y="5610225"/>
            <a:ext cx="1695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25개 단위 검증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6D94DF4-E596-4717-81A9-E1D309F6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6245" y="5848350"/>
            <a:ext cx="1695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프레임·성공 여부 확인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32D228F-E1BC-4FD3-AEC8-E355E957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048" y="5286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5E1"/>
          </a:solidFill>
          <a:ln xmlns:a="http://schemas.openxmlformats.org/drawingml/2006/main" w="0">
            <a:solidFill>
              <a:srgbClr val="0875E1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CA9D71C3-8C5F-4DDE-AEDC-B3DAA7A0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048" y="5286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CB88410-BA26-449F-9568-082BBA40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048" y="5610225"/>
            <a:ext cx="1695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지속 수집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46856F8-D115-40F2-929C-B9367A66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048" y="5848350"/>
            <a:ext cx="1695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정상 episode만 누적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B3A8B2D-D63A-4938-8A47-4110E1BB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286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5E1"/>
          </a:solidFill>
          <a:ln xmlns:a="http://schemas.openxmlformats.org/drawingml/2006/main" w="0">
            <a:solidFill>
              <a:srgbClr val="0875E1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F473B99-BF09-40C6-8810-02001DC6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286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3573D6E-1D68-4FC6-A3FA-04427023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610225"/>
            <a:ext cx="1695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주기적 백업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58C8316-E8B8-47D7-A224-707E3FB9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848350"/>
            <a:ext cx="1695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로컬·클라우드 이중 보관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1AB2C9D-8828-4BCD-ACF3-592D4334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2653" y="5286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5E1"/>
          </a:solidFill>
          <a:ln xmlns:a="http://schemas.openxmlformats.org/drawingml/2006/main" w="0">
            <a:solidFill>
              <a:srgbClr val="0875E1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F261BE1-2DB7-444D-8E0A-1B3BB7DE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2653" y="5286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1AD59DB-22CF-4F42-98DE-3B4792DA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2653" y="5610225"/>
            <a:ext cx="1695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E293B"/>
                </a:solidFill>
                <a:latin typeface="Malgun Gothic"/>
                <a:ea typeface="Malgun Gothic"/>
                <a:cs typeface="Malgun Gothic"/>
              </a:rPr>
              <a:t>학습 준비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8AFBC048-CE22-4638-AEB4-A10818E4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2653" y="5848350"/>
            <a:ext cx="1695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ACT baseline → SmolVLA</a:t>
            </a:r>
          </a:p>
        </p:txBody>
      </p:sp>
    </p:spTree>
    <p:extLst>
      <p:ext uri="{BB962C8B-B14F-4D97-AF65-F5344CB8AC3E}">
        <p14:creationId xmlns:p14="http://schemas.microsoft.com/office/powerpoint/2010/main" val="182719349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2026-09-22T08:48:28.8720000Z</dcterms:created>
  <dcterms:modified xsi:type="dcterms:W3CDTF">2026-09-22T08:48:28.8720000Z</dcterms:modified>
</coreProperties>
</file>